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4" r:id="rId5"/>
    <p:sldId id="279" r:id="rId6"/>
    <p:sldId id="262" r:id="rId7"/>
    <p:sldId id="265" r:id="rId8"/>
    <p:sldId id="283" r:id="rId9"/>
    <p:sldId id="267" r:id="rId10"/>
    <p:sldId id="268" r:id="rId11"/>
    <p:sldId id="287" r:id="rId12"/>
    <p:sldId id="269" r:id="rId13"/>
    <p:sldId id="288" r:id="rId14"/>
    <p:sldId id="286" r:id="rId15"/>
    <p:sldId id="277" r:id="rId16"/>
  </p:sldIdLst>
  <p:sldSz cx="12192000" cy="6858000"/>
  <p:notesSz cx="6858000" cy="9144000"/>
  <p:embeddedFontLst>
    <p:embeddedFont>
      <p:font typeface="Algerian" panose="04020705040A02060702" pitchFamily="82" charset="0"/>
      <p:regular r:id="rId19"/>
    </p:embeddedFont>
    <p:embeddedFont>
      <p:font typeface="等线" panose="02010600030101010101" pitchFamily="2" charset="-122"/>
      <p:regular r:id="rId20"/>
      <p:bold r:id="rId21"/>
    </p:embeddedFon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  <p:embeddedFont>
      <p:font typeface="方正姚体" panose="02010601030101010101" pitchFamily="2" charset="-122"/>
      <p:regular r:id="rId23"/>
    </p:embeddedFont>
    <p:embeddedFont>
      <p:font typeface="华文琥珀" panose="02010800040101010101" pitchFamily="2" charset="-122"/>
      <p:regular r:id="rId24"/>
    </p:embeddedFont>
    <p:embeddedFont>
      <p:font typeface="华文楷体" panose="02010600040101010101" pitchFamily="2" charset="-122"/>
      <p:regular r:id="rId25"/>
    </p:embeddedFont>
    <p:embeddedFont>
      <p:font typeface="华文细黑" panose="02010600040101010101" pitchFamily="2" charset="-122"/>
      <p:regular r:id="rId26"/>
    </p:embeddedFont>
    <p:embeddedFont>
      <p:font typeface="华文新魏" panose="02010800040101010101" pitchFamily="2" charset="-122"/>
      <p:regular r:id="rId27"/>
    </p:embeddedFont>
    <p:embeddedFont>
      <p:font typeface="华文行楷" panose="02010800040101010101" pitchFamily="2" charset="-122"/>
      <p:regular r:id="rId28"/>
    </p:embeddedFont>
    <p:embeddedFont>
      <p:font typeface="华文中宋" panose="02010600040101010101" pitchFamily="2" charset="-122"/>
      <p:regular r:id="rId29"/>
    </p:embeddedFont>
    <p:embeddedFont>
      <p:font typeface="楷体" panose="02010609060101010101" pitchFamily="49" charset="-122"/>
      <p:regular r:id="rId30"/>
    </p:embeddedFont>
    <p:embeddedFont>
      <p:font typeface="隶书" panose="02010509060101010101" pitchFamily="49" charset="-122"/>
      <p:regular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8A78"/>
    <a:srgbClr val="A3C0B5"/>
    <a:srgbClr val="D6E0E0"/>
    <a:srgbClr val="EDEEEE"/>
    <a:srgbClr val="204741"/>
    <a:srgbClr val="162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4613"/>
  </p:normalViewPr>
  <p:slideViewPr>
    <p:cSldViewPr snapToGrid="0" snapToObjects="1" showGuides="1">
      <p:cViewPr varScale="1">
        <p:scale>
          <a:sx n="78" d="100"/>
          <a:sy n="78" d="100"/>
        </p:scale>
        <p:origin x="7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1BA51-CE93-FC49-962B-1762C3029543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C8C00-56D3-E34B-93BD-704D5D3308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090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C8C00-56D3-E34B-93BD-704D5D3308C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44E47-F43E-FD49-A65F-0090792BD7B8}" type="datetimeFigureOut">
              <a:rPr kumimoji="1" lang="zh-CN" altLang="en-US" smtClean="0"/>
              <a:t>2024/4/10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74D9B-FC3F-6140-A91B-F0FE7D345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4000">
        <p15:prstTrans prst="pageCurlDouble"/>
      </p:transition>
    </mc:Choice>
    <mc:Fallback xmlns="">
      <p:transition spd="slow" advClick="0" advTm="4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sv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clrChange>
              <a:clrFrom>
                <a:srgbClr val="EDEEEE"/>
              </a:clrFrom>
              <a:clrTo>
                <a:srgbClr val="ED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476343" y="563466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0" y="563675"/>
            <a:ext cx="4238171" cy="3698649"/>
          </a:xfrm>
          <a:prstGeom prst="rect">
            <a:avLst/>
          </a:prstGeom>
        </p:spPr>
      </p:pic>
      <p:sp>
        <p:nvSpPr>
          <p:cNvPr id="9" name="任意多边形 38"/>
          <p:cNvSpPr/>
          <p:nvPr/>
        </p:nvSpPr>
        <p:spPr>
          <a:xfrm flipH="1" flipV="1">
            <a:off x="7097757" y="1628048"/>
            <a:ext cx="1596390" cy="381000"/>
          </a:xfrm>
          <a:custGeom>
            <a:avLst/>
            <a:gdLst>
              <a:gd name="connsiteX0" fmla="*/ 3538712 w 5891463"/>
              <a:gd name="connsiteY0" fmla="*/ 0 h 713287"/>
              <a:gd name="connsiteX1" fmla="*/ 5891463 w 5891463"/>
              <a:gd name="connsiteY1" fmla="*/ 0 h 713287"/>
              <a:gd name="connsiteX2" fmla="*/ 5891463 w 5891463"/>
              <a:gd name="connsiteY2" fmla="*/ 45719 h 713287"/>
              <a:gd name="connsiteX3" fmla="*/ 4651667 w 5891463"/>
              <a:gd name="connsiteY3" fmla="*/ 45719 h 713287"/>
              <a:gd name="connsiteX4" fmla="*/ 4651667 w 5891463"/>
              <a:gd name="connsiteY4" fmla="*/ 49137 h 713287"/>
              <a:gd name="connsiteX5" fmla="*/ 3291824 w 5891463"/>
              <a:gd name="connsiteY5" fmla="*/ 49137 h 713287"/>
              <a:gd name="connsiteX6" fmla="*/ 1928977 w 5891463"/>
              <a:gd name="connsiteY6" fmla="*/ 49137 h 713287"/>
              <a:gd name="connsiteX7" fmla="*/ 1778305 w 5891463"/>
              <a:gd name="connsiteY7" fmla="*/ 135634 h 713287"/>
              <a:gd name="connsiteX8" fmla="*/ 1765454 w 5891463"/>
              <a:gd name="connsiteY8" fmla="*/ 190761 h 713287"/>
              <a:gd name="connsiteX9" fmla="*/ 1778305 w 5891463"/>
              <a:gd name="connsiteY9" fmla="*/ 245889 h 713287"/>
              <a:gd name="connsiteX10" fmla="*/ 1928977 w 5891463"/>
              <a:gd name="connsiteY10" fmla="*/ 332387 h 713287"/>
              <a:gd name="connsiteX11" fmla="*/ 2167660 w 5891463"/>
              <a:gd name="connsiteY11" fmla="*/ 332387 h 713287"/>
              <a:gd name="connsiteX12" fmla="*/ 2167660 w 5891463"/>
              <a:gd name="connsiteY12" fmla="*/ 331761 h 713287"/>
              <a:gd name="connsiteX13" fmla="*/ 3793525 w 5891463"/>
              <a:gd name="connsiteY13" fmla="*/ 331761 h 713287"/>
              <a:gd name="connsiteX14" fmla="*/ 4013782 w 5891463"/>
              <a:gd name="connsiteY14" fmla="*/ 522521 h 713287"/>
              <a:gd name="connsiteX15" fmla="*/ 3793525 w 5891463"/>
              <a:gd name="connsiteY15" fmla="*/ 713283 h 713287"/>
              <a:gd name="connsiteX16" fmla="*/ 2352751 w 5891463"/>
              <a:gd name="connsiteY16" fmla="*/ 713283 h 713287"/>
              <a:gd name="connsiteX17" fmla="*/ 2352751 w 5891463"/>
              <a:gd name="connsiteY17" fmla="*/ 713287 h 713287"/>
              <a:gd name="connsiteX18" fmla="*/ 0 w 5891463"/>
              <a:gd name="connsiteY18" fmla="*/ 713287 h 713287"/>
              <a:gd name="connsiteX19" fmla="*/ 0 w 5891463"/>
              <a:gd name="connsiteY19" fmla="*/ 667568 h 713287"/>
              <a:gd name="connsiteX20" fmla="*/ 884428 w 5891463"/>
              <a:gd name="connsiteY20" fmla="*/ 667568 h 713287"/>
              <a:gd name="connsiteX21" fmla="*/ 884428 w 5891463"/>
              <a:gd name="connsiteY21" fmla="*/ 664147 h 713287"/>
              <a:gd name="connsiteX22" fmla="*/ 2244271 w 5891463"/>
              <a:gd name="connsiteY22" fmla="*/ 664147 h 713287"/>
              <a:gd name="connsiteX23" fmla="*/ 3649155 w 5891463"/>
              <a:gd name="connsiteY23" fmla="*/ 664147 h 713287"/>
              <a:gd name="connsiteX24" fmla="*/ 3799827 w 5891463"/>
              <a:gd name="connsiteY24" fmla="*/ 577648 h 713287"/>
              <a:gd name="connsiteX25" fmla="*/ 3812678 w 5891463"/>
              <a:gd name="connsiteY25" fmla="*/ 522521 h 713287"/>
              <a:gd name="connsiteX26" fmla="*/ 3799827 w 5891463"/>
              <a:gd name="connsiteY26" fmla="*/ 467394 h 713287"/>
              <a:gd name="connsiteX27" fmla="*/ 3649155 w 5891463"/>
              <a:gd name="connsiteY27" fmla="*/ 380896 h 713287"/>
              <a:gd name="connsiteX28" fmla="*/ 3410471 w 5891463"/>
              <a:gd name="connsiteY28" fmla="*/ 380896 h 713287"/>
              <a:gd name="connsiteX29" fmla="*/ 3410471 w 5891463"/>
              <a:gd name="connsiteY29" fmla="*/ 381523 h 713287"/>
              <a:gd name="connsiteX30" fmla="*/ 1784606 w 5891463"/>
              <a:gd name="connsiteY30" fmla="*/ 381523 h 713287"/>
              <a:gd name="connsiteX31" fmla="*/ 1564350 w 5891463"/>
              <a:gd name="connsiteY31" fmla="*/ 190761 h 713287"/>
              <a:gd name="connsiteX32" fmla="*/ 1784606 w 5891463"/>
              <a:gd name="connsiteY32" fmla="*/ 1 h 713287"/>
              <a:gd name="connsiteX33" fmla="*/ 3291824 w 5891463"/>
              <a:gd name="connsiteY33" fmla="*/ 1 h 713287"/>
              <a:gd name="connsiteX34" fmla="*/ 3410471 w 5891463"/>
              <a:gd name="connsiteY34" fmla="*/ 1 h 713287"/>
              <a:gd name="connsiteX35" fmla="*/ 3538712 w 5891463"/>
              <a:gd name="connsiteY35" fmla="*/ 1 h 71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891463" h="713287">
                <a:moveTo>
                  <a:pt x="3538712" y="0"/>
                </a:moveTo>
                <a:lnTo>
                  <a:pt x="5891463" y="0"/>
                </a:lnTo>
                <a:lnTo>
                  <a:pt x="5891463" y="45719"/>
                </a:lnTo>
                <a:lnTo>
                  <a:pt x="4651667" y="45719"/>
                </a:lnTo>
                <a:lnTo>
                  <a:pt x="4651667" y="49137"/>
                </a:lnTo>
                <a:lnTo>
                  <a:pt x="3291824" y="49137"/>
                </a:lnTo>
                <a:lnTo>
                  <a:pt x="1928977" y="49137"/>
                </a:lnTo>
                <a:cubicBezTo>
                  <a:pt x="1861244" y="49137"/>
                  <a:pt x="1803129" y="84804"/>
                  <a:pt x="1778305" y="135634"/>
                </a:cubicBezTo>
                <a:lnTo>
                  <a:pt x="1765454" y="190761"/>
                </a:lnTo>
                <a:lnTo>
                  <a:pt x="1778305" y="245889"/>
                </a:lnTo>
                <a:cubicBezTo>
                  <a:pt x="1803129" y="296721"/>
                  <a:pt x="1861244" y="332387"/>
                  <a:pt x="1928977" y="332387"/>
                </a:cubicBezTo>
                <a:lnTo>
                  <a:pt x="2167660" y="332387"/>
                </a:lnTo>
                <a:lnTo>
                  <a:pt x="2167660" y="331761"/>
                </a:lnTo>
                <a:lnTo>
                  <a:pt x="3793525" y="331761"/>
                </a:lnTo>
                <a:cubicBezTo>
                  <a:pt x="3915169" y="331761"/>
                  <a:pt x="4013782" y="417167"/>
                  <a:pt x="4013782" y="522521"/>
                </a:cubicBezTo>
                <a:cubicBezTo>
                  <a:pt x="4013782" y="627877"/>
                  <a:pt x="3915169" y="713283"/>
                  <a:pt x="3793525" y="713283"/>
                </a:cubicBezTo>
                <a:lnTo>
                  <a:pt x="2352751" y="713283"/>
                </a:lnTo>
                <a:lnTo>
                  <a:pt x="2352751" y="713287"/>
                </a:lnTo>
                <a:lnTo>
                  <a:pt x="0" y="713287"/>
                </a:lnTo>
                <a:lnTo>
                  <a:pt x="0" y="667568"/>
                </a:lnTo>
                <a:lnTo>
                  <a:pt x="884428" y="667568"/>
                </a:lnTo>
                <a:lnTo>
                  <a:pt x="884428" y="664147"/>
                </a:lnTo>
                <a:lnTo>
                  <a:pt x="2244271" y="664147"/>
                </a:lnTo>
                <a:lnTo>
                  <a:pt x="3649155" y="664147"/>
                </a:lnTo>
                <a:cubicBezTo>
                  <a:pt x="3716888" y="664147"/>
                  <a:pt x="3775004" y="628480"/>
                  <a:pt x="3799827" y="577648"/>
                </a:cubicBezTo>
                <a:lnTo>
                  <a:pt x="3812678" y="522521"/>
                </a:lnTo>
                <a:lnTo>
                  <a:pt x="3799827" y="467394"/>
                </a:lnTo>
                <a:cubicBezTo>
                  <a:pt x="3775004" y="416563"/>
                  <a:pt x="3716888" y="380896"/>
                  <a:pt x="3649155" y="380896"/>
                </a:cubicBezTo>
                <a:lnTo>
                  <a:pt x="3410471" y="380896"/>
                </a:lnTo>
                <a:lnTo>
                  <a:pt x="3410471" y="381523"/>
                </a:lnTo>
                <a:lnTo>
                  <a:pt x="1784606" y="381523"/>
                </a:lnTo>
                <a:cubicBezTo>
                  <a:pt x="1662962" y="381523"/>
                  <a:pt x="1564350" y="296117"/>
                  <a:pt x="1564350" y="190761"/>
                </a:cubicBezTo>
                <a:cubicBezTo>
                  <a:pt x="1564350" y="85407"/>
                  <a:pt x="1662962" y="1"/>
                  <a:pt x="1784606" y="1"/>
                </a:cubicBezTo>
                <a:lnTo>
                  <a:pt x="3291824" y="1"/>
                </a:lnTo>
                <a:lnTo>
                  <a:pt x="3410471" y="1"/>
                </a:lnTo>
                <a:lnTo>
                  <a:pt x="3538712" y="1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任意多边形 38"/>
          <p:cNvSpPr/>
          <p:nvPr/>
        </p:nvSpPr>
        <p:spPr>
          <a:xfrm flipV="1">
            <a:off x="3378563" y="3278079"/>
            <a:ext cx="1596390" cy="381000"/>
          </a:xfrm>
          <a:custGeom>
            <a:avLst/>
            <a:gdLst>
              <a:gd name="connsiteX0" fmla="*/ 3538712 w 5891463"/>
              <a:gd name="connsiteY0" fmla="*/ 0 h 713287"/>
              <a:gd name="connsiteX1" fmla="*/ 5891463 w 5891463"/>
              <a:gd name="connsiteY1" fmla="*/ 0 h 713287"/>
              <a:gd name="connsiteX2" fmla="*/ 5891463 w 5891463"/>
              <a:gd name="connsiteY2" fmla="*/ 45719 h 713287"/>
              <a:gd name="connsiteX3" fmla="*/ 4651667 w 5891463"/>
              <a:gd name="connsiteY3" fmla="*/ 45719 h 713287"/>
              <a:gd name="connsiteX4" fmla="*/ 4651667 w 5891463"/>
              <a:gd name="connsiteY4" fmla="*/ 49137 h 713287"/>
              <a:gd name="connsiteX5" fmla="*/ 3291824 w 5891463"/>
              <a:gd name="connsiteY5" fmla="*/ 49137 h 713287"/>
              <a:gd name="connsiteX6" fmla="*/ 1928977 w 5891463"/>
              <a:gd name="connsiteY6" fmla="*/ 49137 h 713287"/>
              <a:gd name="connsiteX7" fmla="*/ 1778305 w 5891463"/>
              <a:gd name="connsiteY7" fmla="*/ 135634 h 713287"/>
              <a:gd name="connsiteX8" fmla="*/ 1765454 w 5891463"/>
              <a:gd name="connsiteY8" fmla="*/ 190761 h 713287"/>
              <a:gd name="connsiteX9" fmla="*/ 1778305 w 5891463"/>
              <a:gd name="connsiteY9" fmla="*/ 245889 h 713287"/>
              <a:gd name="connsiteX10" fmla="*/ 1928977 w 5891463"/>
              <a:gd name="connsiteY10" fmla="*/ 332387 h 713287"/>
              <a:gd name="connsiteX11" fmla="*/ 2167660 w 5891463"/>
              <a:gd name="connsiteY11" fmla="*/ 332387 h 713287"/>
              <a:gd name="connsiteX12" fmla="*/ 2167660 w 5891463"/>
              <a:gd name="connsiteY12" fmla="*/ 331761 h 713287"/>
              <a:gd name="connsiteX13" fmla="*/ 3793525 w 5891463"/>
              <a:gd name="connsiteY13" fmla="*/ 331761 h 713287"/>
              <a:gd name="connsiteX14" fmla="*/ 4013782 w 5891463"/>
              <a:gd name="connsiteY14" fmla="*/ 522521 h 713287"/>
              <a:gd name="connsiteX15" fmla="*/ 3793525 w 5891463"/>
              <a:gd name="connsiteY15" fmla="*/ 713283 h 713287"/>
              <a:gd name="connsiteX16" fmla="*/ 2352751 w 5891463"/>
              <a:gd name="connsiteY16" fmla="*/ 713283 h 713287"/>
              <a:gd name="connsiteX17" fmla="*/ 2352751 w 5891463"/>
              <a:gd name="connsiteY17" fmla="*/ 713287 h 713287"/>
              <a:gd name="connsiteX18" fmla="*/ 0 w 5891463"/>
              <a:gd name="connsiteY18" fmla="*/ 713287 h 713287"/>
              <a:gd name="connsiteX19" fmla="*/ 0 w 5891463"/>
              <a:gd name="connsiteY19" fmla="*/ 667568 h 713287"/>
              <a:gd name="connsiteX20" fmla="*/ 884428 w 5891463"/>
              <a:gd name="connsiteY20" fmla="*/ 667568 h 713287"/>
              <a:gd name="connsiteX21" fmla="*/ 884428 w 5891463"/>
              <a:gd name="connsiteY21" fmla="*/ 664147 h 713287"/>
              <a:gd name="connsiteX22" fmla="*/ 2244271 w 5891463"/>
              <a:gd name="connsiteY22" fmla="*/ 664147 h 713287"/>
              <a:gd name="connsiteX23" fmla="*/ 3649155 w 5891463"/>
              <a:gd name="connsiteY23" fmla="*/ 664147 h 713287"/>
              <a:gd name="connsiteX24" fmla="*/ 3799827 w 5891463"/>
              <a:gd name="connsiteY24" fmla="*/ 577648 h 713287"/>
              <a:gd name="connsiteX25" fmla="*/ 3812678 w 5891463"/>
              <a:gd name="connsiteY25" fmla="*/ 522521 h 713287"/>
              <a:gd name="connsiteX26" fmla="*/ 3799827 w 5891463"/>
              <a:gd name="connsiteY26" fmla="*/ 467394 h 713287"/>
              <a:gd name="connsiteX27" fmla="*/ 3649155 w 5891463"/>
              <a:gd name="connsiteY27" fmla="*/ 380896 h 713287"/>
              <a:gd name="connsiteX28" fmla="*/ 3410471 w 5891463"/>
              <a:gd name="connsiteY28" fmla="*/ 380896 h 713287"/>
              <a:gd name="connsiteX29" fmla="*/ 3410471 w 5891463"/>
              <a:gd name="connsiteY29" fmla="*/ 381523 h 713287"/>
              <a:gd name="connsiteX30" fmla="*/ 1784606 w 5891463"/>
              <a:gd name="connsiteY30" fmla="*/ 381523 h 713287"/>
              <a:gd name="connsiteX31" fmla="*/ 1564350 w 5891463"/>
              <a:gd name="connsiteY31" fmla="*/ 190761 h 713287"/>
              <a:gd name="connsiteX32" fmla="*/ 1784606 w 5891463"/>
              <a:gd name="connsiteY32" fmla="*/ 1 h 713287"/>
              <a:gd name="connsiteX33" fmla="*/ 3291824 w 5891463"/>
              <a:gd name="connsiteY33" fmla="*/ 1 h 713287"/>
              <a:gd name="connsiteX34" fmla="*/ 3410471 w 5891463"/>
              <a:gd name="connsiteY34" fmla="*/ 1 h 713287"/>
              <a:gd name="connsiteX35" fmla="*/ 3538712 w 5891463"/>
              <a:gd name="connsiteY35" fmla="*/ 1 h 71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891463" h="713287">
                <a:moveTo>
                  <a:pt x="3538712" y="0"/>
                </a:moveTo>
                <a:lnTo>
                  <a:pt x="5891463" y="0"/>
                </a:lnTo>
                <a:lnTo>
                  <a:pt x="5891463" y="45719"/>
                </a:lnTo>
                <a:lnTo>
                  <a:pt x="4651667" y="45719"/>
                </a:lnTo>
                <a:lnTo>
                  <a:pt x="4651667" y="49137"/>
                </a:lnTo>
                <a:lnTo>
                  <a:pt x="3291824" y="49137"/>
                </a:lnTo>
                <a:lnTo>
                  <a:pt x="1928977" y="49137"/>
                </a:lnTo>
                <a:cubicBezTo>
                  <a:pt x="1861244" y="49137"/>
                  <a:pt x="1803129" y="84804"/>
                  <a:pt x="1778305" y="135634"/>
                </a:cubicBezTo>
                <a:lnTo>
                  <a:pt x="1765454" y="190761"/>
                </a:lnTo>
                <a:lnTo>
                  <a:pt x="1778305" y="245889"/>
                </a:lnTo>
                <a:cubicBezTo>
                  <a:pt x="1803129" y="296721"/>
                  <a:pt x="1861244" y="332387"/>
                  <a:pt x="1928977" y="332387"/>
                </a:cubicBezTo>
                <a:lnTo>
                  <a:pt x="2167660" y="332387"/>
                </a:lnTo>
                <a:lnTo>
                  <a:pt x="2167660" y="331761"/>
                </a:lnTo>
                <a:lnTo>
                  <a:pt x="3793525" y="331761"/>
                </a:lnTo>
                <a:cubicBezTo>
                  <a:pt x="3915169" y="331761"/>
                  <a:pt x="4013782" y="417167"/>
                  <a:pt x="4013782" y="522521"/>
                </a:cubicBezTo>
                <a:cubicBezTo>
                  <a:pt x="4013782" y="627877"/>
                  <a:pt x="3915169" y="713283"/>
                  <a:pt x="3793525" y="713283"/>
                </a:cubicBezTo>
                <a:lnTo>
                  <a:pt x="2352751" y="713283"/>
                </a:lnTo>
                <a:lnTo>
                  <a:pt x="2352751" y="713287"/>
                </a:lnTo>
                <a:lnTo>
                  <a:pt x="0" y="713287"/>
                </a:lnTo>
                <a:lnTo>
                  <a:pt x="0" y="667568"/>
                </a:lnTo>
                <a:lnTo>
                  <a:pt x="884428" y="667568"/>
                </a:lnTo>
                <a:lnTo>
                  <a:pt x="884428" y="664147"/>
                </a:lnTo>
                <a:lnTo>
                  <a:pt x="2244271" y="664147"/>
                </a:lnTo>
                <a:lnTo>
                  <a:pt x="3649155" y="664147"/>
                </a:lnTo>
                <a:cubicBezTo>
                  <a:pt x="3716888" y="664147"/>
                  <a:pt x="3775004" y="628480"/>
                  <a:pt x="3799827" y="577648"/>
                </a:cubicBezTo>
                <a:lnTo>
                  <a:pt x="3812678" y="522521"/>
                </a:lnTo>
                <a:lnTo>
                  <a:pt x="3799827" y="467394"/>
                </a:lnTo>
                <a:cubicBezTo>
                  <a:pt x="3775004" y="416563"/>
                  <a:pt x="3716888" y="380896"/>
                  <a:pt x="3649155" y="380896"/>
                </a:cubicBezTo>
                <a:lnTo>
                  <a:pt x="3410471" y="380896"/>
                </a:lnTo>
                <a:lnTo>
                  <a:pt x="3410471" y="381523"/>
                </a:lnTo>
                <a:lnTo>
                  <a:pt x="1784606" y="381523"/>
                </a:lnTo>
                <a:cubicBezTo>
                  <a:pt x="1662962" y="381523"/>
                  <a:pt x="1564350" y="296117"/>
                  <a:pt x="1564350" y="190761"/>
                </a:cubicBezTo>
                <a:cubicBezTo>
                  <a:pt x="1564350" y="85407"/>
                  <a:pt x="1662962" y="1"/>
                  <a:pt x="1784606" y="1"/>
                </a:cubicBezTo>
                <a:lnTo>
                  <a:pt x="3291824" y="1"/>
                </a:lnTo>
                <a:lnTo>
                  <a:pt x="3410471" y="1"/>
                </a:lnTo>
                <a:lnTo>
                  <a:pt x="3538712" y="1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2" descr="2de72cb9e0ef5f54e93cc105d248c2b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6185" y="2584023"/>
            <a:ext cx="2210267" cy="3356601"/>
          </a:xfrm>
          <a:prstGeom prst="rect">
            <a:avLst/>
          </a:prstGeom>
        </p:spPr>
      </p:pic>
      <p:pic>
        <p:nvPicPr>
          <p:cNvPr id="3" name="小鱼儿 - 忆江南 (伴奏)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31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0400" y="-406400"/>
            <a:ext cx="406400" cy="4064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40D6079-27D5-4046-05C9-A2B9D9A8ACC3}"/>
              </a:ext>
            </a:extLst>
          </p:cNvPr>
          <p:cNvSpPr txBox="1"/>
          <p:nvPr/>
        </p:nvSpPr>
        <p:spPr>
          <a:xfrm>
            <a:off x="1153391" y="1298864"/>
            <a:ext cx="7138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The Elegance and Revival of </a:t>
            </a:r>
            <a:r>
              <a:rPr lang="en-US" altLang="zh-CN" sz="3200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Hanfu</a:t>
            </a:r>
            <a:r>
              <a:rPr lang="en-US" altLang="zh-CN" sz="32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8B3B92-38C7-E077-1BD1-8A6E4F656904}"/>
              </a:ext>
            </a:extLst>
          </p:cNvPr>
          <p:cNvSpPr/>
          <p:nvPr/>
        </p:nvSpPr>
        <p:spPr>
          <a:xfrm>
            <a:off x="507177" y="2269238"/>
            <a:ext cx="80354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kern="1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 Journey Through Time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0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9" grpId="0" bldLvl="0" animBg="1"/>
      <p:bldP spid="10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" y="2442440"/>
            <a:ext cx="12192000" cy="4445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B1D3024-6987-D394-A860-2C5A42199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7802" y="2902478"/>
            <a:ext cx="4399736" cy="439973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476343" y="563466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-35318" y="120742"/>
            <a:ext cx="4238171" cy="3698649"/>
          </a:xfrm>
          <a:prstGeom prst="rect">
            <a:avLst/>
          </a:prstGeom>
        </p:spPr>
      </p:pic>
      <p:grpSp>
        <p:nvGrpSpPr>
          <p:cNvPr id="12" name="组合 36"/>
          <p:cNvGrpSpPr/>
          <p:nvPr/>
        </p:nvGrpSpPr>
        <p:grpSpPr>
          <a:xfrm>
            <a:off x="2203263" y="2287362"/>
            <a:ext cx="4810400" cy="766429"/>
            <a:chOff x="1614538" y="2196524"/>
            <a:chExt cx="4681655" cy="746048"/>
          </a:xfrm>
        </p:grpSpPr>
        <p:grpSp>
          <p:nvGrpSpPr>
            <p:cNvPr id="17" name="组合 24"/>
            <p:cNvGrpSpPr/>
            <p:nvPr/>
          </p:nvGrpSpPr>
          <p:grpSpPr>
            <a:xfrm>
              <a:off x="1614538" y="2196524"/>
              <a:ext cx="707749" cy="746048"/>
              <a:chOff x="1006929" y="900860"/>
              <a:chExt cx="10178143" cy="1486098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006929" y="1105637"/>
                <a:ext cx="10178143" cy="1281321"/>
              </a:xfrm>
              <a:prstGeom prst="rect">
                <a:avLst/>
              </a:prstGeom>
              <a:noFill/>
              <a:ln w="28575">
                <a:solidFill>
                  <a:srgbClr val="20474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  <p:sp useBgFill="1">
            <p:nvSpPr>
              <p:cNvPr id="20" name="矩形 19"/>
              <p:cNvSpPr/>
              <p:nvPr/>
            </p:nvSpPr>
            <p:spPr>
              <a:xfrm>
                <a:off x="3525866" y="900860"/>
                <a:ext cx="5629559" cy="4400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</p:grpSp>
        <p:grpSp>
          <p:nvGrpSpPr>
            <p:cNvPr id="14" name="组合 32"/>
            <p:cNvGrpSpPr/>
            <p:nvPr/>
          </p:nvGrpSpPr>
          <p:grpSpPr>
            <a:xfrm>
              <a:off x="2428408" y="2258635"/>
              <a:ext cx="3867785" cy="636650"/>
              <a:chOff x="6377877" y="1460924"/>
              <a:chExt cx="3867785" cy="636650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6431995" y="1460924"/>
                <a:ext cx="2973458" cy="56922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l"/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  <a:sym typeface="华文细黑" panose="02010600040101010101" pitchFamily="2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377877" y="1539521"/>
                <a:ext cx="3867785" cy="558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2800" dirty="0" err="1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Hanfu</a:t>
                </a:r>
                <a:r>
                  <a:rPr lang="en-US" altLang="zh-CN" sz="2800" dirty="0">
                    <a:solidFill>
                      <a:schemeClr val="tx2"/>
                    </a:solidFill>
                    <a:effectLst/>
                    <a:latin typeface="华文细黑" panose="02010600040101010101" pitchFamily="2" charset="-122"/>
                    <a:ea typeface="微软雅黑" panose="020B0503020204020204" charset="-122"/>
                    <a:cs typeface="Times New Roman" panose="02020603050405020304" pitchFamily="18" charset="0"/>
                    <a:sym typeface="华文细黑" panose="02010600040101010101" pitchFamily="2" charset="-122"/>
                  </a:rPr>
                  <a:t> </a:t>
                </a:r>
                <a:r>
                  <a:rPr lang="en-US" altLang="zh-CN" sz="2800" dirty="0" err="1">
                    <a:solidFill>
                      <a:schemeClr val="tx2"/>
                    </a:solidFill>
                    <a:effectLst/>
                    <a:latin typeface="华文细黑" panose="02010600040101010101" pitchFamily="2" charset="-122"/>
                    <a:ea typeface="微软雅黑" panose="020B0503020204020204" charset="-122"/>
                    <a:cs typeface="Times New Roman" panose="02020603050405020304" pitchFamily="18" charset="0"/>
                    <a:sym typeface="华文细黑" panose="02010600040101010101" pitchFamily="2" charset="-122"/>
                  </a:rPr>
                  <a:t>cultrue</a:t>
                </a:r>
                <a:r>
                  <a:rPr lang="en-US" altLang="zh-CN" sz="1050" dirty="0">
                    <a:solidFill>
                      <a:schemeClr val="tx2"/>
                    </a:solidFill>
                    <a:latin typeface="华文细黑" panose="02010600040101010101" pitchFamily="2" charset="-122"/>
                    <a:ea typeface="微软雅黑" panose="020B0503020204020204" charset="-122"/>
                    <a:sym typeface="华文细黑" panose="02010600040101010101" pitchFamily="2" charset="-122"/>
                  </a:rPr>
                  <a:t>,</a:t>
                </a:r>
              </a:p>
            </p:txBody>
          </p:sp>
        </p:grpSp>
      </p:grpSp>
      <p:sp>
        <p:nvSpPr>
          <p:cNvPr id="48" name="矩形 47"/>
          <p:cNvSpPr/>
          <p:nvPr/>
        </p:nvSpPr>
        <p:spPr>
          <a:xfrm>
            <a:off x="4733466" y="743947"/>
            <a:ext cx="2787944" cy="784830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pPr algn="ctr"/>
            <a:r>
              <a:rPr lang="en-US" altLang="zh-CN" sz="4500" b="1" dirty="0">
                <a:solidFill>
                  <a:srgbClr val="16231C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细黑" panose="02010600040101010101" pitchFamily="2" charset="-122"/>
              </a:rPr>
              <a:t>Directory</a:t>
            </a:r>
            <a:endParaRPr lang="zh-CN" altLang="en-US" sz="4500" b="1" dirty="0">
              <a:solidFill>
                <a:srgbClr val="16231C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细黑" panose="02010600040101010101" pitchFamily="2" charset="-122"/>
            </a:endParaRPr>
          </a:p>
        </p:txBody>
      </p:sp>
      <p:grpSp>
        <p:nvGrpSpPr>
          <p:cNvPr id="49" name="组合 36"/>
          <p:cNvGrpSpPr/>
          <p:nvPr/>
        </p:nvGrpSpPr>
        <p:grpSpPr>
          <a:xfrm>
            <a:off x="6760749" y="2287362"/>
            <a:ext cx="5466568" cy="766429"/>
            <a:chOff x="1614538" y="2196524"/>
            <a:chExt cx="5320262" cy="746048"/>
          </a:xfrm>
        </p:grpSpPr>
        <p:grpSp>
          <p:nvGrpSpPr>
            <p:cNvPr id="54" name="组合 24"/>
            <p:cNvGrpSpPr/>
            <p:nvPr/>
          </p:nvGrpSpPr>
          <p:grpSpPr>
            <a:xfrm>
              <a:off x="1614538" y="2196524"/>
              <a:ext cx="707749" cy="746048"/>
              <a:chOff x="1006929" y="900860"/>
              <a:chExt cx="10178143" cy="1486098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1006929" y="1105637"/>
                <a:ext cx="10178143" cy="1281321"/>
              </a:xfrm>
              <a:prstGeom prst="rect">
                <a:avLst/>
              </a:prstGeom>
              <a:noFill/>
              <a:ln w="28575">
                <a:solidFill>
                  <a:srgbClr val="20474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  <p:sp useBgFill="1">
            <p:nvSpPr>
              <p:cNvPr id="57" name="矩形 56"/>
              <p:cNvSpPr/>
              <p:nvPr/>
            </p:nvSpPr>
            <p:spPr>
              <a:xfrm>
                <a:off x="3525866" y="900860"/>
                <a:ext cx="5629559" cy="4400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</p:grpSp>
        <p:grpSp>
          <p:nvGrpSpPr>
            <p:cNvPr id="51" name="组合 32"/>
            <p:cNvGrpSpPr/>
            <p:nvPr/>
          </p:nvGrpSpPr>
          <p:grpSpPr>
            <a:xfrm>
              <a:off x="2482526" y="2258634"/>
              <a:ext cx="4452274" cy="582298"/>
              <a:chOff x="6431995" y="1460923"/>
              <a:chExt cx="4452274" cy="582298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6431995" y="1460923"/>
                <a:ext cx="2973458" cy="56922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l"/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  <a:sym typeface="华文细黑" panose="02010600040101010101" pitchFamily="2" charset="-122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6443229" y="1549767"/>
                <a:ext cx="4441040" cy="4934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24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origins and significance of </a:t>
                </a:r>
                <a:r>
                  <a:rPr lang="en-US" altLang="zh-CN" sz="2400" dirty="0" err="1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Hanfu</a:t>
                </a:r>
                <a:r>
                  <a:rPr lang="en-US" altLang="zh-CN" sz="1050" dirty="0">
                    <a:solidFill>
                      <a:schemeClr val="tx2"/>
                    </a:solidFill>
                    <a:latin typeface="华文细黑" panose="02010600040101010101" pitchFamily="2" charset="-122"/>
                    <a:ea typeface="微软雅黑" panose="020B0503020204020204" charset="-122"/>
                    <a:sym typeface="华文细黑" panose="02010600040101010101" pitchFamily="2" charset="-122"/>
                  </a:rPr>
                  <a:t>,</a:t>
                </a:r>
              </a:p>
            </p:txBody>
          </p:sp>
        </p:grpSp>
      </p:grpSp>
      <p:grpSp>
        <p:nvGrpSpPr>
          <p:cNvPr id="58" name="组合 36"/>
          <p:cNvGrpSpPr/>
          <p:nvPr/>
        </p:nvGrpSpPr>
        <p:grpSpPr>
          <a:xfrm>
            <a:off x="2203263" y="3480172"/>
            <a:ext cx="4916619" cy="766429"/>
            <a:chOff x="1614538" y="2196524"/>
            <a:chExt cx="4785031" cy="746048"/>
          </a:xfrm>
        </p:grpSpPr>
        <p:grpSp>
          <p:nvGrpSpPr>
            <p:cNvPr id="63" name="组合 24"/>
            <p:cNvGrpSpPr/>
            <p:nvPr/>
          </p:nvGrpSpPr>
          <p:grpSpPr>
            <a:xfrm>
              <a:off x="1614538" y="2196524"/>
              <a:ext cx="707749" cy="746048"/>
              <a:chOff x="1006929" y="900860"/>
              <a:chExt cx="10178143" cy="1486098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1006929" y="1105637"/>
                <a:ext cx="10178143" cy="1281321"/>
              </a:xfrm>
              <a:prstGeom prst="rect">
                <a:avLst/>
              </a:prstGeom>
              <a:noFill/>
              <a:ln w="28575">
                <a:solidFill>
                  <a:srgbClr val="20474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  <p:sp useBgFill="1">
            <p:nvSpPr>
              <p:cNvPr id="66" name="矩形 65"/>
              <p:cNvSpPr/>
              <p:nvPr/>
            </p:nvSpPr>
            <p:spPr>
              <a:xfrm>
                <a:off x="3525866" y="900860"/>
                <a:ext cx="5629559" cy="4400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</p:grpSp>
        <p:sp>
          <p:nvSpPr>
            <p:cNvPr id="62" name="矩形 61"/>
            <p:cNvSpPr/>
            <p:nvPr/>
          </p:nvSpPr>
          <p:spPr>
            <a:xfrm>
              <a:off x="2531784" y="2306737"/>
              <a:ext cx="3867785" cy="5580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800" dirty="0">
                  <a:effectLst/>
                  <a:latin typeface="等线" panose="02010600030101010101" pitchFamily="2" charset="-122"/>
                  <a:cs typeface="Times New Roman" panose="02020603050405020304" pitchFamily="18" charset="0"/>
                </a:rPr>
                <a:t>recent revival of </a:t>
              </a:r>
              <a:r>
                <a:rPr lang="en-US" altLang="zh-CN" sz="2800" dirty="0" err="1">
                  <a:effectLst/>
                  <a:latin typeface="等线" panose="02010600030101010101" pitchFamily="2" charset="-122"/>
                  <a:cs typeface="Times New Roman" panose="02020603050405020304" pitchFamily="18" charset="0"/>
                </a:rPr>
                <a:t>Hanfu</a:t>
              </a:r>
              <a:endParaRPr lang="en-US" altLang="zh-CN" sz="2800" dirty="0">
                <a:solidFill>
                  <a:schemeClr val="tx2"/>
                </a:solidFill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7" name="组合 36"/>
          <p:cNvGrpSpPr/>
          <p:nvPr/>
        </p:nvGrpSpPr>
        <p:grpSpPr>
          <a:xfrm>
            <a:off x="6760749" y="3480172"/>
            <a:ext cx="4905608" cy="766429"/>
            <a:chOff x="1614538" y="2196524"/>
            <a:chExt cx="4774315" cy="746048"/>
          </a:xfrm>
        </p:grpSpPr>
        <p:grpSp>
          <p:nvGrpSpPr>
            <p:cNvPr id="72" name="组合 24"/>
            <p:cNvGrpSpPr/>
            <p:nvPr/>
          </p:nvGrpSpPr>
          <p:grpSpPr>
            <a:xfrm>
              <a:off x="1614538" y="2196524"/>
              <a:ext cx="707749" cy="746048"/>
              <a:chOff x="1006929" y="900860"/>
              <a:chExt cx="10178143" cy="148609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006929" y="1105637"/>
                <a:ext cx="10178143" cy="1281321"/>
              </a:xfrm>
              <a:prstGeom prst="rect">
                <a:avLst/>
              </a:prstGeom>
              <a:noFill/>
              <a:ln w="28575">
                <a:solidFill>
                  <a:srgbClr val="20474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  <p:sp useBgFill="1">
            <p:nvSpPr>
              <p:cNvPr id="75" name="矩形 74"/>
              <p:cNvSpPr/>
              <p:nvPr/>
            </p:nvSpPr>
            <p:spPr>
              <a:xfrm>
                <a:off x="3525866" y="900860"/>
                <a:ext cx="5629559" cy="4400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zh-CN" altLang="en-US" sz="1600">
                  <a:latin typeface="华文细黑" panose="02010600040101010101" pitchFamily="2" charset="-122"/>
                  <a:ea typeface="微软雅黑" panose="020B0503020204020204" charset="-122"/>
                  <a:sym typeface="华文细黑" panose="02010600040101010101" pitchFamily="2" charset="-122"/>
                </a:endParaRPr>
              </a:p>
            </p:txBody>
          </p:sp>
        </p:grpSp>
        <p:grpSp>
          <p:nvGrpSpPr>
            <p:cNvPr id="69" name="组合 32"/>
            <p:cNvGrpSpPr/>
            <p:nvPr/>
          </p:nvGrpSpPr>
          <p:grpSpPr>
            <a:xfrm>
              <a:off x="2482526" y="2258634"/>
              <a:ext cx="3906327" cy="569224"/>
              <a:chOff x="6431995" y="1460923"/>
              <a:chExt cx="3906327" cy="569224"/>
            </a:xfrm>
          </p:grpSpPr>
          <p:sp>
            <p:nvSpPr>
              <p:cNvPr id="70" name="文本框 69"/>
              <p:cNvSpPr txBox="1"/>
              <p:nvPr/>
            </p:nvSpPr>
            <p:spPr>
              <a:xfrm>
                <a:off x="6431995" y="1460923"/>
                <a:ext cx="2973458" cy="56922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l"/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  <a:sym typeface="华文细黑" panose="02010600040101010101" pitchFamily="2" charset="-122"/>
                </a:endParaRPr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6470537" y="1532671"/>
                <a:ext cx="3867785" cy="4911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24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Challenges</a:t>
                </a:r>
                <a:r>
                  <a:rPr lang="en-US" altLang="zh-CN" sz="2400" dirty="0">
                    <a:solidFill>
                      <a:schemeClr val="tx2"/>
                    </a:solidFill>
                    <a:effectLst/>
                    <a:latin typeface="华文细黑" panose="02010600040101010101" pitchFamily="2" charset="-122"/>
                    <a:ea typeface="微软雅黑" panose="020B0503020204020204" charset="-122"/>
                    <a:cs typeface="Times New Roman" panose="02020603050405020304" pitchFamily="18" charset="0"/>
                    <a:sym typeface="华文细黑" panose="02010600040101010101" pitchFamily="2" charset="-122"/>
                  </a:rPr>
                  <a:t> of </a:t>
                </a:r>
                <a:r>
                  <a:rPr lang="en-US" altLang="zh-CN" sz="2400" dirty="0" err="1">
                    <a:solidFill>
                      <a:schemeClr val="tx2"/>
                    </a:solidFill>
                    <a:effectLst/>
                    <a:latin typeface="华文细黑" panose="02010600040101010101" pitchFamily="2" charset="-122"/>
                    <a:ea typeface="微软雅黑" panose="020B0503020204020204" charset="-122"/>
                    <a:cs typeface="Times New Roman" panose="02020603050405020304" pitchFamily="18" charset="0"/>
                    <a:sym typeface="华文细黑" panose="02010600040101010101" pitchFamily="2" charset="-122"/>
                  </a:rPr>
                  <a:t>Hanfu</a:t>
                </a:r>
                <a:r>
                  <a:rPr lang="en-US" altLang="zh-CN" sz="1050" dirty="0">
                    <a:solidFill>
                      <a:schemeClr val="tx2"/>
                    </a:solidFill>
                    <a:latin typeface="华文细黑" panose="02010600040101010101" pitchFamily="2" charset="-122"/>
                    <a:ea typeface="微软雅黑" panose="020B0503020204020204" charset="-122"/>
                    <a:sym typeface="华文细黑" panose="02010600040101010101" pitchFamily="2" charset="-122"/>
                  </a:rPr>
                  <a:t>,</a:t>
                </a:r>
              </a:p>
            </p:txBody>
          </p:sp>
        </p:grpSp>
      </p:grpSp>
      <p:pic>
        <p:nvPicPr>
          <p:cNvPr id="42" name="图片 5"/>
          <p:cNvPicPr>
            <a:picLocks noChangeAspect="1"/>
          </p:cNvPicPr>
          <p:nvPr/>
        </p:nvPicPr>
        <p:blipFill>
          <a:blip r:embed="rId6"/>
          <a:srcRect b="5363"/>
          <a:stretch>
            <a:fillRect/>
          </a:stretch>
        </p:blipFill>
        <p:spPr>
          <a:xfrm>
            <a:off x="9558866" y="4423402"/>
            <a:ext cx="2573655" cy="243459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形 4" descr="秒表 纯色填充">
            <a:extLst>
              <a:ext uri="{FF2B5EF4-FFF2-40B4-BE49-F238E27FC236}">
                <a16:creationId xmlns:a16="http://schemas.microsoft.com/office/drawing/2014/main" id="{60395FFA-31C2-D1FB-A513-28F129F6D6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9669" y="3379166"/>
            <a:ext cx="914400" cy="914400"/>
          </a:xfrm>
          <a:prstGeom prst="rect">
            <a:avLst/>
          </a:prstGeom>
        </p:spPr>
      </p:pic>
      <p:pic>
        <p:nvPicPr>
          <p:cNvPr id="7" name="图形 6" descr="主页 纯色填充">
            <a:extLst>
              <a:ext uri="{FF2B5EF4-FFF2-40B4-BE49-F238E27FC236}">
                <a16:creationId xmlns:a16="http://schemas.microsoft.com/office/drawing/2014/main" id="{3B56C048-5104-F26D-0420-8EEDE0A05B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9343" y="2206773"/>
            <a:ext cx="914400" cy="914400"/>
          </a:xfrm>
          <a:prstGeom prst="rect">
            <a:avLst/>
          </a:prstGeom>
        </p:spPr>
      </p:pic>
      <p:pic>
        <p:nvPicPr>
          <p:cNvPr id="8" name="图形 7" descr="微笑的心形脸轮廓 纯色填充">
            <a:extLst>
              <a:ext uri="{FF2B5EF4-FFF2-40B4-BE49-F238E27FC236}">
                <a16:creationId xmlns:a16="http://schemas.microsoft.com/office/drawing/2014/main" id="{369C1451-0CCB-E0DA-FA32-ED54118400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5842" y="2246899"/>
            <a:ext cx="914400" cy="914400"/>
          </a:xfrm>
          <a:prstGeom prst="rect">
            <a:avLst/>
          </a:prstGeom>
        </p:spPr>
      </p:pic>
      <p:pic>
        <p:nvPicPr>
          <p:cNvPr id="11" name="图形 10" descr="哭泣的脸轮廓 纯色填充">
            <a:extLst>
              <a:ext uri="{FF2B5EF4-FFF2-40B4-BE49-F238E27FC236}">
                <a16:creationId xmlns:a16="http://schemas.microsoft.com/office/drawing/2014/main" id="{824DC409-3CAC-AC8A-1545-BF9E047763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2682" y="3414253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476343" y="563466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0" y="563675"/>
            <a:ext cx="4238171" cy="3698649"/>
          </a:xfrm>
          <a:prstGeom prst="rect">
            <a:avLst/>
          </a:prstGeom>
        </p:spPr>
      </p:pic>
      <p:grpSp>
        <p:nvGrpSpPr>
          <p:cNvPr id="12" name="组合 14"/>
          <p:cNvGrpSpPr/>
          <p:nvPr/>
        </p:nvGrpSpPr>
        <p:grpSpPr>
          <a:xfrm>
            <a:off x="5679606" y="1617625"/>
            <a:ext cx="981818" cy="852607"/>
            <a:chOff x="1396824" y="751325"/>
            <a:chExt cx="7797893" cy="2033911"/>
          </a:xfrm>
        </p:grpSpPr>
        <p:sp>
          <p:nvSpPr>
            <p:cNvPr id="13" name="矩形 12"/>
            <p:cNvSpPr/>
            <p:nvPr/>
          </p:nvSpPr>
          <p:spPr>
            <a:xfrm>
              <a:off x="1396824" y="828649"/>
              <a:ext cx="7797893" cy="1956587"/>
            </a:xfrm>
            <a:prstGeom prst="rect">
              <a:avLst/>
            </a:prstGeom>
            <a:noFill/>
            <a:ln w="28575">
              <a:solidFill>
                <a:srgbClr val="2047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  <p:sp useBgFill="1">
          <p:nvSpPr>
            <p:cNvPr id="14" name="矩形 13"/>
            <p:cNvSpPr/>
            <p:nvPr/>
          </p:nvSpPr>
          <p:spPr>
            <a:xfrm>
              <a:off x="3390967" y="751325"/>
              <a:ext cx="3809608" cy="708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860799" y="2979410"/>
            <a:ext cx="44704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 algn="ctr"/>
            <a:r>
              <a:rPr lang="en-US" altLang="zh-CN" sz="40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Hanfu</a:t>
            </a:r>
            <a:r>
              <a:rPr lang="en-US" altLang="zh-CN" sz="4000" dirty="0">
                <a:solidFill>
                  <a:schemeClr val="tx2"/>
                </a:solidFill>
                <a:latin typeface="华文细黑" panose="02010600040101010101" pitchFamily="2" charset="-122"/>
                <a:ea typeface="微软雅黑" panose="020B0503020204020204" charset="-122"/>
                <a:cs typeface="Times New Roman" panose="02020603050405020304" pitchFamily="18" charset="0"/>
                <a:sym typeface="华文细黑" panose="02010600040101010101" pitchFamily="2" charset="-122"/>
              </a:rPr>
              <a:t> </a:t>
            </a:r>
            <a:r>
              <a:rPr lang="en-US" altLang="zh-CN" sz="4000" dirty="0" err="1">
                <a:solidFill>
                  <a:schemeClr val="tx2"/>
                </a:solidFill>
                <a:latin typeface="华文细黑" panose="02010600040101010101" pitchFamily="2" charset="-122"/>
                <a:ea typeface="微软雅黑" panose="020B0503020204020204" charset="-122"/>
                <a:cs typeface="Times New Roman" panose="02020603050405020304" pitchFamily="18" charset="0"/>
                <a:sym typeface="华文细黑" panose="02010600040101010101" pitchFamily="2" charset="-122"/>
              </a:rPr>
              <a:t>cultrue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  <a:sym typeface="华文细黑" panose="020106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608977" y="1821898"/>
            <a:ext cx="1123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20474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细黑" panose="02010600040101010101" pitchFamily="2" charset="-122"/>
              </a:rPr>
              <a:t>Total</a:t>
            </a:r>
            <a:endParaRPr lang="zh-CN" altLang="en-US" sz="2800" dirty="0">
              <a:solidFill>
                <a:srgbClr val="20474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200" y="2263700"/>
            <a:ext cx="12192000" cy="4445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sp>
        <p:nvSpPr>
          <p:cNvPr id="29" name="文本框 11"/>
          <p:cNvSpPr txBox="1"/>
          <p:nvPr/>
        </p:nvSpPr>
        <p:spPr>
          <a:xfrm>
            <a:off x="926783" y="1267953"/>
            <a:ext cx="2886681" cy="7694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4400" b="1" dirty="0">
                <a:solidFill>
                  <a:srgbClr val="4B8A78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importance</a:t>
            </a:r>
            <a:endParaRPr lang="zh-CN" altLang="en-US" sz="4400" b="1" dirty="0">
              <a:solidFill>
                <a:srgbClr val="4B8A78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39591" y="921851"/>
            <a:ext cx="5160963" cy="883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rich cultural heritage of China,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 garment that has captured the hearts of many:</a:t>
            </a:r>
            <a:endParaRPr lang="zh-CN" altLang="en-US" sz="1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03F0ED-ABC2-E253-02D8-70348BF7DA0C}"/>
              </a:ext>
            </a:extLst>
          </p:cNvPr>
          <p:cNvSpPr txBox="1"/>
          <p:nvPr/>
        </p:nvSpPr>
        <p:spPr>
          <a:xfrm>
            <a:off x="5039591" y="2531027"/>
            <a:ext cx="5538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with its intricate designs and deep-rooted history,</a:t>
            </a:r>
          </a:p>
          <a:p>
            <a:r>
              <a:rPr lang="en-US" altLang="zh-CN" sz="1800" b="1" kern="1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not just a piece of clothing, but a symbol of China's profound cultural identity.</a:t>
            </a:r>
            <a:endParaRPr lang="zh-CN" altLang="zh-CN" sz="1800" b="1" kern="1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8005D5-4196-0157-7299-7F9619213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72" y="2716016"/>
            <a:ext cx="3420247" cy="3041592"/>
          </a:xfrm>
          <a:prstGeom prst="rect">
            <a:avLst/>
          </a:prstGeom>
        </p:spPr>
      </p:pic>
      <p:pic>
        <p:nvPicPr>
          <p:cNvPr id="9" name="图形 8" descr="蝴蝶 纯色填充">
            <a:extLst>
              <a:ext uri="{FF2B5EF4-FFF2-40B4-BE49-F238E27FC236}">
                <a16:creationId xmlns:a16="http://schemas.microsoft.com/office/drawing/2014/main" id="{CDB80121-1F11-14AD-388C-ADAEFD3A4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3354" y="4104671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339495" y="516819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0" y="563675"/>
            <a:ext cx="4238171" cy="3698649"/>
          </a:xfrm>
          <a:prstGeom prst="rect">
            <a:avLst/>
          </a:prstGeom>
        </p:spPr>
      </p:pic>
      <p:grpSp>
        <p:nvGrpSpPr>
          <p:cNvPr id="12" name="组合 14"/>
          <p:cNvGrpSpPr/>
          <p:nvPr/>
        </p:nvGrpSpPr>
        <p:grpSpPr>
          <a:xfrm>
            <a:off x="5605090" y="1746876"/>
            <a:ext cx="981818" cy="852607"/>
            <a:chOff x="1396824" y="751325"/>
            <a:chExt cx="7797893" cy="2033911"/>
          </a:xfrm>
        </p:grpSpPr>
        <p:sp>
          <p:nvSpPr>
            <p:cNvPr id="13" name="矩形 12"/>
            <p:cNvSpPr/>
            <p:nvPr/>
          </p:nvSpPr>
          <p:spPr>
            <a:xfrm>
              <a:off x="1396824" y="828649"/>
              <a:ext cx="7797893" cy="1956587"/>
            </a:xfrm>
            <a:prstGeom prst="rect">
              <a:avLst/>
            </a:prstGeom>
            <a:noFill/>
            <a:ln w="28575">
              <a:solidFill>
                <a:srgbClr val="2047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  <p:sp useBgFill="1">
          <p:nvSpPr>
            <p:cNvPr id="14" name="矩形 13"/>
            <p:cNvSpPr/>
            <p:nvPr/>
          </p:nvSpPr>
          <p:spPr>
            <a:xfrm>
              <a:off x="3390967" y="751325"/>
              <a:ext cx="3809608" cy="708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119085" y="2903923"/>
            <a:ext cx="7943275" cy="7833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origins and significance of </a:t>
            </a:r>
            <a:r>
              <a:rPr lang="en-US" altLang="zh-CN" sz="4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Hanfu</a:t>
            </a:r>
            <a:r>
              <a:rPr lang="en-US" altLang="zh-CN" sz="1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rPr>
              <a:t>,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0CAFB4-7B86-D76D-43DB-36BD79BD59ED}"/>
              </a:ext>
            </a:extLst>
          </p:cNvPr>
          <p:cNvSpPr txBox="1"/>
          <p:nvPr/>
        </p:nvSpPr>
        <p:spPr>
          <a:xfrm>
            <a:off x="5529184" y="1927776"/>
            <a:ext cx="1123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20474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细黑" panose="02010600040101010101" pitchFamily="2" charset="-122"/>
              </a:rPr>
              <a:t>First</a:t>
            </a:r>
            <a:endParaRPr lang="zh-CN" altLang="en-US" sz="2800" dirty="0">
              <a:solidFill>
                <a:srgbClr val="20474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pic>
        <p:nvPicPr>
          <p:cNvPr id="42" name="图片 3"/>
          <p:cNvPicPr>
            <a:picLocks noChangeAspect="1"/>
          </p:cNvPicPr>
          <p:nvPr/>
        </p:nvPicPr>
        <p:blipFill>
          <a:blip r:embed="rId4"/>
          <a:srcRect r="49213"/>
          <a:stretch>
            <a:fillRect/>
          </a:stretch>
        </p:blipFill>
        <p:spPr>
          <a:xfrm>
            <a:off x="306388" y="3611563"/>
            <a:ext cx="182880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"/>
          <p:cNvPicPr>
            <a:picLocks noChangeAspect="1"/>
          </p:cNvPicPr>
          <p:nvPr/>
        </p:nvPicPr>
        <p:blipFill>
          <a:blip r:embed="rId5"/>
          <a:srcRect l="49213"/>
          <a:stretch>
            <a:fillRect/>
          </a:stretch>
        </p:blipFill>
        <p:spPr>
          <a:xfrm>
            <a:off x="3216275" y="4106863"/>
            <a:ext cx="18288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" name="椭圆 43"/>
          <p:cNvSpPr/>
          <p:nvPr/>
        </p:nvSpPr>
        <p:spPr>
          <a:xfrm>
            <a:off x="1343025" y="1955800"/>
            <a:ext cx="2881313" cy="2879725"/>
          </a:xfrm>
          <a:prstGeom prst="ellipse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圆角矩形 2"/>
          <p:cNvSpPr/>
          <p:nvPr/>
        </p:nvSpPr>
        <p:spPr>
          <a:xfrm>
            <a:off x="10417175" y="1700530"/>
            <a:ext cx="987425" cy="3457575"/>
          </a:xfrm>
          <a:prstGeom prst="roundRect">
            <a:avLst/>
          </a:prstGeom>
          <a:solidFill>
            <a:srgbClr val="A3C0B5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" name="图片 51" descr="2de72cb9e0ef5f54e93cc105d248c2b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173" y="1371114"/>
            <a:ext cx="2690495" cy="408559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10346097" y="2166942"/>
            <a:ext cx="1199430" cy="21236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6600" b="1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</a:rPr>
              <a:t>hanfu</a:t>
            </a:r>
            <a:endParaRPr lang="zh-CN" altLang="en-US" sz="66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7C41BDF-2043-903A-19B7-1339634AEE7B}"/>
              </a:ext>
            </a:extLst>
          </p:cNvPr>
          <p:cNvCxnSpPr/>
          <p:nvPr/>
        </p:nvCxnSpPr>
        <p:spPr>
          <a:xfrm>
            <a:off x="5195455" y="2047009"/>
            <a:ext cx="4842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9C1006E-82C4-45EF-2A80-8D435F21FFCD}"/>
              </a:ext>
            </a:extLst>
          </p:cNvPr>
          <p:cNvCxnSpPr/>
          <p:nvPr/>
        </p:nvCxnSpPr>
        <p:spPr>
          <a:xfrm>
            <a:off x="5195454" y="2552700"/>
            <a:ext cx="4842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7BC22B1-902A-8FBE-CBF4-16A594B0EEFC}"/>
              </a:ext>
            </a:extLst>
          </p:cNvPr>
          <p:cNvCxnSpPr/>
          <p:nvPr/>
        </p:nvCxnSpPr>
        <p:spPr>
          <a:xfrm>
            <a:off x="5195455" y="3089564"/>
            <a:ext cx="4842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1609FFE-518D-99CC-A3B9-98F912D38C06}"/>
              </a:ext>
            </a:extLst>
          </p:cNvPr>
          <p:cNvCxnSpPr/>
          <p:nvPr/>
        </p:nvCxnSpPr>
        <p:spPr>
          <a:xfrm>
            <a:off x="5195453" y="3611563"/>
            <a:ext cx="4842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8F37A18-8E7C-C632-FE86-040DB6F0E668}"/>
              </a:ext>
            </a:extLst>
          </p:cNvPr>
          <p:cNvCxnSpPr/>
          <p:nvPr/>
        </p:nvCxnSpPr>
        <p:spPr>
          <a:xfrm>
            <a:off x="5195455" y="4150881"/>
            <a:ext cx="4842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E285F0A-5967-060D-1A08-7783A379FAD5}"/>
              </a:ext>
            </a:extLst>
          </p:cNvPr>
          <p:cNvSpPr txBox="1"/>
          <p:nvPr/>
        </p:nvSpPr>
        <p:spPr>
          <a:xfrm>
            <a:off x="5224952" y="1729044"/>
            <a:ext cx="499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originating from the Han Dynasty,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A6A984-30D8-007D-AF4F-B078754198F3}"/>
              </a:ext>
            </a:extLst>
          </p:cNvPr>
          <p:cNvSpPr txBox="1"/>
          <p:nvPr/>
        </p:nvSpPr>
        <p:spPr>
          <a:xfrm>
            <a:off x="5195455" y="2785550"/>
            <a:ext cx="480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is a traditional Chinese clothing style that has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90A9A6-F2EB-0E25-0ECD-DC1B72771F69}"/>
              </a:ext>
            </a:extLst>
          </p:cNvPr>
          <p:cNvSpPr txBox="1"/>
          <p:nvPr/>
        </p:nvSpPr>
        <p:spPr>
          <a:xfrm>
            <a:off x="5195455" y="3844413"/>
            <a:ext cx="404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evolved over thousands of years.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pic>
        <p:nvPicPr>
          <p:cNvPr id="24" name="图片 3"/>
          <p:cNvPicPr>
            <a:picLocks noChangeAspect="1"/>
          </p:cNvPicPr>
          <p:nvPr/>
        </p:nvPicPr>
        <p:blipFill>
          <a:blip r:embed="rId4"/>
          <a:srcRect r="49213"/>
          <a:stretch>
            <a:fillRect/>
          </a:stretch>
        </p:blipFill>
        <p:spPr>
          <a:xfrm>
            <a:off x="3600768" y="2979738"/>
            <a:ext cx="182880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图片 4"/>
          <p:cNvPicPr>
            <a:picLocks noChangeAspect="1"/>
          </p:cNvPicPr>
          <p:nvPr/>
        </p:nvPicPr>
        <p:blipFill>
          <a:blip r:embed="rId5"/>
          <a:srcRect l="49213"/>
          <a:stretch>
            <a:fillRect/>
          </a:stretch>
        </p:blipFill>
        <p:spPr>
          <a:xfrm>
            <a:off x="5923280" y="4001453"/>
            <a:ext cx="18288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椭圆 25"/>
          <p:cNvSpPr/>
          <p:nvPr/>
        </p:nvSpPr>
        <p:spPr>
          <a:xfrm>
            <a:off x="4637405" y="1920875"/>
            <a:ext cx="2881313" cy="2879725"/>
          </a:xfrm>
          <a:prstGeom prst="ellipse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2034" y="3741738"/>
            <a:ext cx="3042575" cy="2725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n>
                  <a:solidFill>
                    <a:schemeClr val="tx1"/>
                  </a:solidFill>
                </a:ln>
                <a:solidFill>
                  <a:schemeClr val="accent3">
                    <a:lumMod val="50000"/>
                  </a:schemeClr>
                </a:solidFill>
              </a:rPr>
              <a:t>but also tell stories of history and culture.</a:t>
            </a:r>
            <a:endParaRPr lang="zh-CN" altLang="zh-CN" sz="3200" b="1" dirty="0">
              <a:ln>
                <a:solidFill>
                  <a:schemeClr val="tx1"/>
                </a:solidFill>
              </a:ln>
              <a:solidFill>
                <a:schemeClr val="accent3">
                  <a:lumMod val="50000"/>
                </a:schemeClr>
              </a:solidFill>
            </a:endParaRPr>
          </a:p>
          <a:p>
            <a:pPr algn="r">
              <a:lnSpc>
                <a:spcPct val="150000"/>
              </a:lnSpc>
            </a:pPr>
            <a:endParaRPr lang="zh-CN" altLang="en-US" sz="3200" b="1" dirty="0">
              <a:ln>
                <a:solidFill>
                  <a:schemeClr val="tx1"/>
                </a:solidFill>
              </a:ln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661783" y="892347"/>
            <a:ext cx="37414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not only showcase the skill of ancient craftsmen</a:t>
            </a:r>
            <a:endParaRPr lang="zh-CN" alt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86E4D6-208F-D4CE-8440-DF3541B9C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547" y="1323975"/>
            <a:ext cx="3141150" cy="4445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C59177E-1014-69D5-3277-A7C718A72874}"/>
              </a:ext>
            </a:extLst>
          </p:cNvPr>
          <p:cNvGrpSpPr/>
          <p:nvPr/>
        </p:nvGrpSpPr>
        <p:grpSpPr>
          <a:xfrm>
            <a:off x="1045270" y="1891403"/>
            <a:ext cx="1489353" cy="1532678"/>
            <a:chOff x="1462405" y="1151255"/>
            <a:chExt cx="1882775" cy="190881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7098247-EB50-DCE4-E807-36C93BEA6A5C}"/>
                </a:ext>
              </a:extLst>
            </p:cNvPr>
            <p:cNvSpPr/>
            <p:nvPr/>
          </p:nvSpPr>
          <p:spPr>
            <a:xfrm>
              <a:off x="1462405" y="1151255"/>
              <a:ext cx="1882775" cy="1908810"/>
            </a:xfrm>
            <a:prstGeom prst="ellipse">
              <a:avLst/>
            </a:prstGeom>
            <a:solidFill>
              <a:srgbClr val="A3C0B5"/>
            </a:solidFill>
            <a:ln>
              <a:solidFill>
                <a:srgbClr val="A3C0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A253544-23E0-E895-EC8E-0C40E824DB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>
                    <a:alpha val="36078"/>
                  </a:srgbClr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3" r="80129" b="70451"/>
            <a:stretch>
              <a:fillRect/>
            </a:stretch>
          </p:blipFill>
          <p:spPr>
            <a:xfrm>
              <a:off x="1547494" y="1406080"/>
              <a:ext cx="1680845" cy="108767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489F6E3-DE0D-3EBF-5CB4-FB3647826BF4}"/>
              </a:ext>
            </a:extLst>
          </p:cNvPr>
          <p:cNvGrpSpPr/>
          <p:nvPr/>
        </p:nvGrpSpPr>
        <p:grpSpPr>
          <a:xfrm>
            <a:off x="8933885" y="3424081"/>
            <a:ext cx="1489353" cy="1532678"/>
            <a:chOff x="1462405" y="1151255"/>
            <a:chExt cx="1882775" cy="190881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C548350-A4D1-74E8-BCAE-460A2DC416E9}"/>
                </a:ext>
              </a:extLst>
            </p:cNvPr>
            <p:cNvSpPr/>
            <p:nvPr/>
          </p:nvSpPr>
          <p:spPr>
            <a:xfrm>
              <a:off x="1462405" y="1151255"/>
              <a:ext cx="1882775" cy="1908810"/>
            </a:xfrm>
            <a:prstGeom prst="ellipse">
              <a:avLst/>
            </a:prstGeom>
            <a:solidFill>
              <a:srgbClr val="A3C0B5"/>
            </a:solidFill>
            <a:ln>
              <a:solidFill>
                <a:srgbClr val="A3C0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FEF9295-D06D-0C69-BF70-2CF54AACC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>
                    <a:alpha val="36078"/>
                  </a:srgbClr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3" r="80129" b="70451"/>
            <a:stretch>
              <a:fillRect/>
            </a:stretch>
          </p:blipFill>
          <p:spPr>
            <a:xfrm>
              <a:off x="1547494" y="1406080"/>
              <a:ext cx="1680845" cy="108767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83" y="2413000"/>
            <a:ext cx="12192000" cy="4445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476343" y="563466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0" y="563675"/>
            <a:ext cx="4238171" cy="3698649"/>
          </a:xfrm>
          <a:prstGeom prst="rect">
            <a:avLst/>
          </a:prstGeom>
        </p:spPr>
      </p:pic>
      <p:grpSp>
        <p:nvGrpSpPr>
          <p:cNvPr id="12" name="组合 14"/>
          <p:cNvGrpSpPr/>
          <p:nvPr/>
        </p:nvGrpSpPr>
        <p:grpSpPr>
          <a:xfrm>
            <a:off x="5605090" y="1746876"/>
            <a:ext cx="981818" cy="852607"/>
            <a:chOff x="1396824" y="751325"/>
            <a:chExt cx="7797893" cy="2033911"/>
          </a:xfrm>
        </p:grpSpPr>
        <p:sp>
          <p:nvSpPr>
            <p:cNvPr id="13" name="矩形 12"/>
            <p:cNvSpPr/>
            <p:nvPr/>
          </p:nvSpPr>
          <p:spPr>
            <a:xfrm>
              <a:off x="1396824" y="828649"/>
              <a:ext cx="7797893" cy="1956587"/>
            </a:xfrm>
            <a:prstGeom prst="rect">
              <a:avLst/>
            </a:prstGeom>
            <a:noFill/>
            <a:ln w="28575">
              <a:solidFill>
                <a:srgbClr val="2047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  <p:sp useBgFill="1">
          <p:nvSpPr>
            <p:cNvPr id="14" name="矩形 13"/>
            <p:cNvSpPr/>
            <p:nvPr/>
          </p:nvSpPr>
          <p:spPr>
            <a:xfrm>
              <a:off x="3390967" y="751325"/>
              <a:ext cx="3809608" cy="708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004080" y="3038335"/>
            <a:ext cx="656159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 algn="ctr"/>
            <a:r>
              <a:rPr lang="en-US" altLang="zh-CN" sz="3600" dirty="0"/>
              <a:t>the recent revival of </a:t>
            </a:r>
            <a:r>
              <a:rPr lang="en-US" altLang="zh-CN" sz="3600" dirty="0" err="1"/>
              <a:t>Hanfu</a:t>
            </a:r>
            <a:r>
              <a:rPr lang="en-US" altLang="zh-CN" sz="3600" dirty="0"/>
              <a:t>.</a:t>
            </a:r>
            <a:endParaRPr lang="zh-CN" altLang="en-US" sz="3600" dirty="0"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15108" y="1932648"/>
            <a:ext cx="11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rgbClr val="20474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细黑" panose="02010600040101010101" pitchFamily="2" charset="-122"/>
              </a:rPr>
              <a:t>second</a:t>
            </a:r>
            <a:endParaRPr lang="zh-CN" altLang="en-US" sz="2000" dirty="0">
              <a:solidFill>
                <a:srgbClr val="20474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pic>
        <p:nvPicPr>
          <p:cNvPr id="42" name="图片 3"/>
          <p:cNvPicPr>
            <a:picLocks noChangeAspect="1"/>
          </p:cNvPicPr>
          <p:nvPr/>
        </p:nvPicPr>
        <p:blipFill>
          <a:blip r:embed="rId4"/>
          <a:srcRect r="49213"/>
          <a:stretch>
            <a:fillRect/>
          </a:stretch>
        </p:blipFill>
        <p:spPr>
          <a:xfrm>
            <a:off x="3600768" y="3935413"/>
            <a:ext cx="182880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"/>
          <p:cNvPicPr>
            <a:picLocks noChangeAspect="1"/>
          </p:cNvPicPr>
          <p:nvPr/>
        </p:nvPicPr>
        <p:blipFill>
          <a:blip r:embed="rId5"/>
          <a:srcRect l="49213"/>
          <a:stretch>
            <a:fillRect/>
          </a:stretch>
        </p:blipFill>
        <p:spPr>
          <a:xfrm>
            <a:off x="6510655" y="4430713"/>
            <a:ext cx="1828800" cy="76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" name="椭圆 43"/>
          <p:cNvSpPr/>
          <p:nvPr/>
        </p:nvSpPr>
        <p:spPr>
          <a:xfrm>
            <a:off x="4637405" y="2279650"/>
            <a:ext cx="2881313" cy="2879725"/>
          </a:xfrm>
          <a:prstGeom prst="ellipse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圆角矩形 19"/>
          <p:cNvSpPr/>
          <p:nvPr/>
        </p:nvSpPr>
        <p:spPr>
          <a:xfrm>
            <a:off x="3341276" y="2201545"/>
            <a:ext cx="378460" cy="732155"/>
          </a:xfrm>
          <a:prstGeom prst="roundRect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圆角矩形 20"/>
          <p:cNvSpPr/>
          <p:nvPr/>
        </p:nvSpPr>
        <p:spPr>
          <a:xfrm>
            <a:off x="11075670" y="2202180"/>
            <a:ext cx="378460" cy="732155"/>
          </a:xfrm>
          <a:prstGeom prst="roundRect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9" name="图片 48" descr="2de72cb9e0ef5f54e93cc105d248c2b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770" y="1986069"/>
            <a:ext cx="2690495" cy="4085590"/>
          </a:xfrm>
          <a:prstGeom prst="rect">
            <a:avLst/>
          </a:prstGeom>
        </p:spPr>
      </p:pic>
      <p:sp>
        <p:nvSpPr>
          <p:cNvPr id="50" name="文本框 30"/>
          <p:cNvSpPr txBox="1"/>
          <p:nvPr/>
        </p:nvSpPr>
        <p:spPr>
          <a:xfrm>
            <a:off x="3200658" y="2201545"/>
            <a:ext cx="800219" cy="93878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关雎</a:t>
            </a:r>
          </a:p>
        </p:txBody>
      </p:sp>
      <p:sp>
        <p:nvSpPr>
          <p:cNvPr id="51" name="文本框 30"/>
          <p:cNvSpPr txBox="1"/>
          <p:nvPr/>
        </p:nvSpPr>
        <p:spPr>
          <a:xfrm>
            <a:off x="10920536" y="2201545"/>
            <a:ext cx="800219" cy="93878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关雎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9889EC-3816-703A-A014-8F73FE65A6B2}"/>
              </a:ext>
            </a:extLst>
          </p:cNvPr>
          <p:cNvSpPr txBox="1"/>
          <p:nvPr/>
        </p:nvSpPr>
        <p:spPr>
          <a:xfrm>
            <a:off x="415636" y="1147153"/>
            <a:ext cx="11305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effectLst/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In recent years, there has been a growing interest in </a:t>
            </a:r>
            <a:r>
              <a:rPr lang="en-US" altLang="zh-CN" sz="2400" dirty="0" err="1">
                <a:effectLst/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Hanfu</a:t>
            </a:r>
            <a:r>
              <a:rPr lang="en-US" altLang="zh-CN" sz="2400" dirty="0">
                <a:effectLst/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 among young people in China. </a:t>
            </a:r>
            <a:endParaRPr lang="zh-CN" altLang="en-US" sz="24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9AFA71-F482-EEB9-842F-F22499A261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176" y="2524686"/>
            <a:ext cx="2712941" cy="18086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0302C1-BA96-0FFD-B398-80DB0E9D68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2630" y="4575727"/>
            <a:ext cx="3012538" cy="20083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5B8931-A129-A238-53BA-EAA187E713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5106" y="3363728"/>
            <a:ext cx="4247504" cy="2831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4771"/>
            <a:ext cx="12192000" cy="4445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7936229" y="981075"/>
            <a:ext cx="3008313" cy="4327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文本框 11"/>
          <p:cNvSpPr txBox="1"/>
          <p:nvPr/>
        </p:nvSpPr>
        <p:spPr>
          <a:xfrm>
            <a:off x="1247458" y="1263015"/>
            <a:ext cx="26447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b="1" dirty="0">
                <a:solidFill>
                  <a:srgbClr val="4B8A78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WHY?</a:t>
            </a:r>
            <a:endParaRPr lang="zh-CN" altLang="en-US" sz="3600" b="1" dirty="0">
              <a:solidFill>
                <a:srgbClr val="4B8A78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93801" y="2175510"/>
            <a:ext cx="4902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This revival is not just a fashion trend but a deeper cultural movement.</a:t>
            </a:r>
          </a:p>
          <a:p>
            <a:r>
              <a:rPr lang="en-US" altLang="zh-CN" sz="2000" dirty="0"/>
              <a:t>People are wearing </a:t>
            </a:r>
            <a:r>
              <a:rPr lang="en-US" altLang="zh-CN" sz="2000" dirty="0" err="1"/>
              <a:t>Hanfu</a:t>
            </a:r>
            <a:r>
              <a:rPr lang="en-US" altLang="zh-CN" sz="2000" dirty="0"/>
              <a:t> to weddings, festivals, and even daily life, rediscovering its beauty and the pride it brings in their cultural heritage. </a:t>
            </a:r>
          </a:p>
          <a:p>
            <a:r>
              <a:rPr lang="en-US" altLang="zh-CN" sz="2000" dirty="0"/>
              <a:t>This revival is also a testament to the enduring appeal of traditional Chinese culture in the modern world.</a:t>
            </a:r>
            <a:endParaRPr lang="zh-CN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DDBD1C-E2C7-B933-6B98-7DEF080B0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803" y="1027182"/>
            <a:ext cx="4327234" cy="4327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476343" y="563466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0" y="563675"/>
            <a:ext cx="4238171" cy="3698649"/>
          </a:xfrm>
          <a:prstGeom prst="rect">
            <a:avLst/>
          </a:prstGeom>
        </p:spPr>
      </p:pic>
      <p:grpSp>
        <p:nvGrpSpPr>
          <p:cNvPr id="12" name="组合 14"/>
          <p:cNvGrpSpPr/>
          <p:nvPr/>
        </p:nvGrpSpPr>
        <p:grpSpPr>
          <a:xfrm>
            <a:off x="5605090" y="1746876"/>
            <a:ext cx="981818" cy="852607"/>
            <a:chOff x="1396824" y="751325"/>
            <a:chExt cx="7797893" cy="2033911"/>
          </a:xfrm>
        </p:grpSpPr>
        <p:sp>
          <p:nvSpPr>
            <p:cNvPr id="13" name="矩形 12"/>
            <p:cNvSpPr/>
            <p:nvPr/>
          </p:nvSpPr>
          <p:spPr>
            <a:xfrm>
              <a:off x="1396824" y="828649"/>
              <a:ext cx="7797893" cy="1956587"/>
            </a:xfrm>
            <a:prstGeom prst="rect">
              <a:avLst/>
            </a:prstGeom>
            <a:noFill/>
            <a:ln w="28575">
              <a:solidFill>
                <a:srgbClr val="2047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  <p:sp useBgFill="1">
          <p:nvSpPr>
            <p:cNvPr id="14" name="矩形 13"/>
            <p:cNvSpPr/>
            <p:nvPr/>
          </p:nvSpPr>
          <p:spPr>
            <a:xfrm>
              <a:off x="3390967" y="751325"/>
              <a:ext cx="3809608" cy="7086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860799" y="2943663"/>
            <a:ext cx="4888346" cy="7793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4000" dirty="0">
                <a:latin typeface="等线" panose="02010600030101010101" pitchFamily="2" charset="-122"/>
                <a:cs typeface="Times New Roman" panose="02020603050405020304" pitchFamily="18" charset="0"/>
              </a:rPr>
              <a:t>Challenges</a:t>
            </a:r>
            <a:r>
              <a:rPr lang="en-US" altLang="zh-CN" sz="4000" dirty="0">
                <a:solidFill>
                  <a:schemeClr val="tx2"/>
                </a:solidFill>
                <a:latin typeface="华文细黑" panose="02010600040101010101" pitchFamily="2" charset="-122"/>
                <a:ea typeface="微软雅黑" panose="020B0503020204020204" charset="-122"/>
                <a:cs typeface="Times New Roman" panose="02020603050405020304" pitchFamily="18" charset="0"/>
                <a:sym typeface="华文细黑" panose="02010600040101010101" pitchFamily="2" charset="-122"/>
              </a:rPr>
              <a:t> of </a:t>
            </a:r>
            <a:r>
              <a:rPr lang="en-US" altLang="zh-CN" sz="4000" dirty="0" err="1">
                <a:solidFill>
                  <a:schemeClr val="tx2"/>
                </a:solidFill>
                <a:latin typeface="华文细黑" panose="02010600040101010101" pitchFamily="2" charset="-122"/>
                <a:ea typeface="微软雅黑" panose="020B0503020204020204" charset="-122"/>
                <a:cs typeface="Times New Roman" panose="02020603050405020304" pitchFamily="18" charset="0"/>
                <a:sym typeface="华文细黑" panose="02010600040101010101" pitchFamily="2" charset="-122"/>
              </a:rPr>
              <a:t>Hanfu</a:t>
            </a:r>
            <a:r>
              <a:rPr lang="en-US" altLang="zh-CN" sz="1600" dirty="0">
                <a:solidFill>
                  <a:schemeClr val="tx2"/>
                </a:solidFill>
                <a:latin typeface="华文细黑" panose="02010600040101010101" pitchFamily="2" charset="-122"/>
                <a:ea typeface="微软雅黑" panose="020B0503020204020204" charset="-122"/>
                <a:sym typeface="华文细黑" panose="02010600040101010101" pitchFamily="2" charset="-122"/>
              </a:rPr>
              <a:t>,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44501" y="1966855"/>
            <a:ext cx="1102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20474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细黑" panose="02010600040101010101" pitchFamily="2" charset="-122"/>
              </a:rPr>
              <a:t>third</a:t>
            </a:r>
            <a:endParaRPr lang="zh-CN" altLang="en-US" sz="2800" dirty="0">
              <a:solidFill>
                <a:srgbClr val="20474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25454" y="1636741"/>
            <a:ext cx="12190730" cy="3682365"/>
          </a:xfrm>
          <a:prstGeom prst="rect">
            <a:avLst/>
          </a:prstGeom>
          <a:solidFill>
            <a:srgbClr val="D6E0E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" name="图片 36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50150" t="32828" r="14112" b="43006"/>
          <a:stretch>
            <a:fillRect/>
          </a:stretch>
        </p:blipFill>
        <p:spPr>
          <a:xfrm>
            <a:off x="10642138" y="5517232"/>
            <a:ext cx="1286510" cy="869950"/>
          </a:xfrm>
          <a:prstGeom prst="ellipse">
            <a:avLst/>
          </a:prstGeom>
        </p:spPr>
      </p:pic>
      <p:pic>
        <p:nvPicPr>
          <p:cNvPr id="38" name="图片 37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15100" t="43358" r="45775" b="34856"/>
          <a:stretch>
            <a:fillRect/>
          </a:stretch>
        </p:blipFill>
        <p:spPr>
          <a:xfrm>
            <a:off x="9552384" y="5888433"/>
            <a:ext cx="1012825" cy="563880"/>
          </a:xfrm>
          <a:prstGeom prst="ellipse">
            <a:avLst/>
          </a:prstGeom>
        </p:spPr>
      </p:pic>
      <p:pic>
        <p:nvPicPr>
          <p:cNvPr id="39" name="图片 38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15100" t="43358" r="45775" b="34856"/>
          <a:stretch>
            <a:fillRect/>
          </a:stretch>
        </p:blipFill>
        <p:spPr>
          <a:xfrm>
            <a:off x="11287179" y="5798854"/>
            <a:ext cx="551179" cy="306705"/>
          </a:xfrm>
          <a:prstGeom prst="ellipse">
            <a:avLst/>
          </a:prstGeom>
        </p:spPr>
      </p:pic>
      <p:pic>
        <p:nvPicPr>
          <p:cNvPr id="41" name="图片 40" descr="2de72cb9e0ef5f54e93cc105d248c2b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20090" y="763269"/>
            <a:ext cx="3620770" cy="5498465"/>
          </a:xfrm>
          <a:prstGeom prst="rect">
            <a:avLst/>
          </a:prstGeom>
        </p:spPr>
      </p:pic>
      <p:sp>
        <p:nvSpPr>
          <p:cNvPr id="42" name="文本框 30"/>
          <p:cNvSpPr txBox="1"/>
          <p:nvPr/>
        </p:nvSpPr>
        <p:spPr>
          <a:xfrm rot="10800000">
            <a:off x="4442695" y="121516"/>
            <a:ext cx="924612" cy="4519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“</a:t>
            </a:r>
            <a:r>
              <a:rPr lang="en-US" altLang="zh-CN" dirty="0"/>
              <a:t>challenges.</a:t>
            </a:r>
            <a:r>
              <a:rPr lang="zh-CN" altLang="en-US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42A1D1-6D3D-2424-F702-36504827D35F}"/>
              </a:ext>
            </a:extLst>
          </p:cNvPr>
          <p:cNvSpPr txBox="1"/>
          <p:nvPr/>
        </p:nvSpPr>
        <p:spPr>
          <a:xfrm>
            <a:off x="5195455" y="792284"/>
            <a:ext cx="4969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modern versions may not fully capture the essence of the original. 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428223-F67F-2237-7B26-62DFD41D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860" y="1642562"/>
            <a:ext cx="5514816" cy="367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D427382-E633-9354-6CDC-8DA31338042E}"/>
              </a:ext>
            </a:extLst>
          </p:cNvPr>
          <p:cNvSpPr txBox="1"/>
          <p:nvPr/>
        </p:nvSpPr>
        <p:spPr>
          <a:xfrm>
            <a:off x="3252355" y="5621482"/>
            <a:ext cx="8312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this revival has sparked a renewed interest in traditional Chinese culture, leading to more research and appreciation for its rich heritage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6" y="2509369"/>
            <a:ext cx="12192000" cy="4445000"/>
          </a:xfrm>
          <a:prstGeom prst="rect">
            <a:avLst/>
          </a:prstGeom>
        </p:spPr>
      </p:pic>
      <p:pic>
        <p:nvPicPr>
          <p:cNvPr id="9" name="图片 8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50150" t="32828" r="14112" b="43006"/>
          <a:stretch>
            <a:fillRect/>
          </a:stretch>
        </p:blipFill>
        <p:spPr>
          <a:xfrm>
            <a:off x="10642138" y="5517232"/>
            <a:ext cx="1286510" cy="869950"/>
          </a:xfrm>
          <a:prstGeom prst="ellipse">
            <a:avLst/>
          </a:prstGeom>
        </p:spPr>
      </p:pic>
      <p:pic>
        <p:nvPicPr>
          <p:cNvPr id="17" name="图片 16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15100" t="43358" r="45775" b="34856"/>
          <a:stretch>
            <a:fillRect/>
          </a:stretch>
        </p:blipFill>
        <p:spPr>
          <a:xfrm>
            <a:off x="9552384" y="6031943"/>
            <a:ext cx="1012825" cy="563880"/>
          </a:xfrm>
          <a:prstGeom prst="ellipse">
            <a:avLst/>
          </a:prstGeom>
        </p:spPr>
      </p:pic>
      <p:pic>
        <p:nvPicPr>
          <p:cNvPr id="18" name="图片 17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15100" t="43358" r="45775" b="34856"/>
          <a:stretch>
            <a:fillRect/>
          </a:stretch>
        </p:blipFill>
        <p:spPr>
          <a:xfrm>
            <a:off x="11287179" y="5798854"/>
            <a:ext cx="551179" cy="30670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B53BEDF-4F40-000B-58B1-A69EB481C1DD}"/>
              </a:ext>
            </a:extLst>
          </p:cNvPr>
          <p:cNvSpPr txBox="1"/>
          <p:nvPr/>
        </p:nvSpPr>
        <p:spPr>
          <a:xfrm>
            <a:off x="1828800" y="892347"/>
            <a:ext cx="3667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Algerian" panose="04020705040A02060702" pitchFamily="82" charset="0"/>
              </a:rPr>
              <a:t>IN </a:t>
            </a:r>
          </a:p>
          <a:p>
            <a:r>
              <a:rPr lang="en-US" altLang="zh-CN" sz="4000" dirty="0">
                <a:latin typeface="Algerian" panose="04020705040A02060702" pitchFamily="82" charset="0"/>
              </a:rPr>
              <a:t>CONCLUSION</a:t>
            </a:r>
            <a:endParaRPr lang="zh-CN" altLang="en-US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838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6" y="2509369"/>
            <a:ext cx="12192000" cy="4445000"/>
          </a:xfrm>
          <a:prstGeom prst="rect">
            <a:avLst/>
          </a:prstGeom>
        </p:spPr>
      </p:pic>
      <p:pic>
        <p:nvPicPr>
          <p:cNvPr id="9" name="图片 8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50150" t="32828" r="14112" b="43006"/>
          <a:stretch>
            <a:fillRect/>
          </a:stretch>
        </p:blipFill>
        <p:spPr>
          <a:xfrm>
            <a:off x="10642138" y="5517232"/>
            <a:ext cx="1286510" cy="869950"/>
          </a:xfrm>
          <a:prstGeom prst="ellipse">
            <a:avLst/>
          </a:prstGeom>
        </p:spPr>
      </p:pic>
      <p:pic>
        <p:nvPicPr>
          <p:cNvPr id="17" name="图片 16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15100" t="43358" r="45775" b="34856"/>
          <a:stretch>
            <a:fillRect/>
          </a:stretch>
        </p:blipFill>
        <p:spPr>
          <a:xfrm>
            <a:off x="9552384" y="6031943"/>
            <a:ext cx="1012825" cy="563880"/>
          </a:xfrm>
          <a:prstGeom prst="ellipse">
            <a:avLst/>
          </a:prstGeom>
        </p:spPr>
      </p:pic>
      <p:pic>
        <p:nvPicPr>
          <p:cNvPr id="18" name="图片 17" descr="3877ff8a370d0c2f35e86efb9002341d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15100" t="43358" r="45775" b="34856"/>
          <a:stretch>
            <a:fillRect/>
          </a:stretch>
        </p:blipFill>
        <p:spPr>
          <a:xfrm>
            <a:off x="11287179" y="5798854"/>
            <a:ext cx="551179" cy="306705"/>
          </a:xfrm>
          <a:prstGeom prst="ellipse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55"/>
            <a:ext cx="1193800" cy="587492"/>
          </a:xfrm>
          <a:prstGeom prst="rect">
            <a:avLst/>
          </a:prstGeom>
        </p:spPr>
      </p:pic>
      <p:sp>
        <p:nvSpPr>
          <p:cNvPr id="25" name="椭圆 8"/>
          <p:cNvSpPr/>
          <p:nvPr/>
        </p:nvSpPr>
        <p:spPr>
          <a:xfrm>
            <a:off x="2927862" y="2951274"/>
            <a:ext cx="469900" cy="975995"/>
          </a:xfrm>
          <a:prstGeom prst="roundRect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椭圆 8"/>
          <p:cNvSpPr/>
          <p:nvPr/>
        </p:nvSpPr>
        <p:spPr>
          <a:xfrm>
            <a:off x="8566477" y="3132245"/>
            <a:ext cx="469900" cy="975995"/>
          </a:xfrm>
          <a:prstGeom prst="roundRect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椭圆 8"/>
          <p:cNvSpPr/>
          <p:nvPr/>
        </p:nvSpPr>
        <p:spPr>
          <a:xfrm>
            <a:off x="6441386" y="1220829"/>
            <a:ext cx="469900" cy="975995"/>
          </a:xfrm>
          <a:prstGeom prst="roundRect">
            <a:avLst/>
          </a:prstGeom>
          <a:solidFill>
            <a:srgbClr val="A3C0B5"/>
          </a:solidFill>
          <a:ln>
            <a:solidFill>
              <a:srgbClr val="A3C0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 rot="5400000">
            <a:off x="2476280" y="3106320"/>
            <a:ext cx="3455988" cy="952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 rot="5400000">
            <a:off x="6046456" y="3163544"/>
            <a:ext cx="3455988" cy="952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4" name="文本框 30"/>
          <p:cNvSpPr txBox="1"/>
          <p:nvPr/>
        </p:nvSpPr>
        <p:spPr>
          <a:xfrm>
            <a:off x="2849638" y="3058801"/>
            <a:ext cx="800219" cy="9218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关雎</a:t>
            </a:r>
          </a:p>
        </p:txBody>
      </p:sp>
      <p:sp>
        <p:nvSpPr>
          <p:cNvPr id="55" name="文本框 30"/>
          <p:cNvSpPr txBox="1"/>
          <p:nvPr/>
        </p:nvSpPr>
        <p:spPr>
          <a:xfrm>
            <a:off x="6311122" y="1325755"/>
            <a:ext cx="800219" cy="8591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关雎</a:t>
            </a:r>
          </a:p>
        </p:txBody>
      </p:sp>
      <p:sp>
        <p:nvSpPr>
          <p:cNvPr id="56" name="文本框 30"/>
          <p:cNvSpPr txBox="1"/>
          <p:nvPr/>
        </p:nvSpPr>
        <p:spPr>
          <a:xfrm>
            <a:off x="8447630" y="3213338"/>
            <a:ext cx="800219" cy="8949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entury Gothic" panose="020B0502020202020204" pitchFamily="34" charset="0"/>
              </a:rPr>
              <a:t>关雎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60762" y="1067933"/>
            <a:ext cx="1489353" cy="1532678"/>
            <a:chOff x="1462405" y="1151255"/>
            <a:chExt cx="1882775" cy="1908810"/>
          </a:xfrm>
        </p:grpSpPr>
        <p:sp>
          <p:nvSpPr>
            <p:cNvPr id="50" name="椭圆 49"/>
            <p:cNvSpPr/>
            <p:nvPr/>
          </p:nvSpPr>
          <p:spPr>
            <a:xfrm>
              <a:off x="1462405" y="1151255"/>
              <a:ext cx="1882775" cy="1908810"/>
            </a:xfrm>
            <a:prstGeom prst="ellipse">
              <a:avLst/>
            </a:prstGeom>
            <a:solidFill>
              <a:srgbClr val="A3C0B5"/>
            </a:solidFill>
            <a:ln>
              <a:solidFill>
                <a:srgbClr val="A3C0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>
                    <a:alpha val="36078"/>
                  </a:srgbClr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3" r="80129" b="70451"/>
            <a:stretch>
              <a:fillRect/>
            </a:stretch>
          </p:blipFill>
          <p:spPr>
            <a:xfrm>
              <a:off x="1547494" y="1406080"/>
              <a:ext cx="1680845" cy="1087674"/>
            </a:xfrm>
            <a:prstGeom prst="rect">
              <a:avLst/>
            </a:prstGeom>
          </p:spPr>
        </p:pic>
      </p:grpSp>
      <p:grpSp>
        <p:nvGrpSpPr>
          <p:cNvPr id="64" name="组合 63"/>
          <p:cNvGrpSpPr/>
          <p:nvPr/>
        </p:nvGrpSpPr>
        <p:grpSpPr>
          <a:xfrm>
            <a:off x="5804632" y="2540573"/>
            <a:ext cx="1489353" cy="1532678"/>
            <a:chOff x="1462405" y="1151255"/>
            <a:chExt cx="1882775" cy="1908810"/>
          </a:xfrm>
        </p:grpSpPr>
        <p:sp>
          <p:nvSpPr>
            <p:cNvPr id="65" name="椭圆 64"/>
            <p:cNvSpPr/>
            <p:nvPr/>
          </p:nvSpPr>
          <p:spPr>
            <a:xfrm>
              <a:off x="1462405" y="1151255"/>
              <a:ext cx="1882775" cy="1908810"/>
            </a:xfrm>
            <a:prstGeom prst="ellipse">
              <a:avLst/>
            </a:prstGeom>
            <a:solidFill>
              <a:srgbClr val="A3C0B5"/>
            </a:solidFill>
            <a:ln>
              <a:solidFill>
                <a:srgbClr val="A3C0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6" name="图片 65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>
                    <a:alpha val="36078"/>
                  </a:srgbClr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3" r="80129" b="70451"/>
            <a:stretch>
              <a:fillRect/>
            </a:stretch>
          </p:blipFill>
          <p:spPr>
            <a:xfrm>
              <a:off x="1547494" y="1406080"/>
              <a:ext cx="1680845" cy="1087674"/>
            </a:xfrm>
            <a:prstGeom prst="rect">
              <a:avLst/>
            </a:prstGeom>
          </p:spPr>
        </p:pic>
      </p:grpSp>
      <p:grpSp>
        <p:nvGrpSpPr>
          <p:cNvPr id="67" name="组合 66"/>
          <p:cNvGrpSpPr/>
          <p:nvPr/>
        </p:nvGrpSpPr>
        <p:grpSpPr>
          <a:xfrm>
            <a:off x="8406781" y="1227208"/>
            <a:ext cx="1489353" cy="1532678"/>
            <a:chOff x="1462405" y="1151255"/>
            <a:chExt cx="1882775" cy="1908810"/>
          </a:xfrm>
        </p:grpSpPr>
        <p:sp>
          <p:nvSpPr>
            <p:cNvPr id="68" name="椭圆 67"/>
            <p:cNvSpPr/>
            <p:nvPr/>
          </p:nvSpPr>
          <p:spPr>
            <a:xfrm>
              <a:off x="1462405" y="1151255"/>
              <a:ext cx="1882775" cy="1908810"/>
            </a:xfrm>
            <a:prstGeom prst="ellipse">
              <a:avLst/>
            </a:prstGeom>
            <a:solidFill>
              <a:srgbClr val="A3C0B5"/>
            </a:solidFill>
            <a:ln>
              <a:solidFill>
                <a:srgbClr val="A3C0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9" name="图片 68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>
                    <a:alpha val="36078"/>
                  </a:srgbClr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3" r="80129" b="70451"/>
            <a:stretch>
              <a:fillRect/>
            </a:stretch>
          </p:blipFill>
          <p:spPr>
            <a:xfrm>
              <a:off x="1547494" y="1406080"/>
              <a:ext cx="1680845" cy="1087674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A95E749-5246-F2B1-90E2-4EEC0E4ECAD9}"/>
              </a:ext>
            </a:extLst>
          </p:cNvPr>
          <p:cNvSpPr txBox="1"/>
          <p:nvPr/>
        </p:nvSpPr>
        <p:spPr>
          <a:xfrm>
            <a:off x="1091045" y="2759886"/>
            <a:ext cx="17443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a garment; it is a bridge to the past, a window to China's cultural soul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4FBD1C-567B-ED1C-CAA5-9D76058DC06A}"/>
              </a:ext>
            </a:extLst>
          </p:cNvPr>
          <p:cNvSpPr txBox="1"/>
          <p:nvPr/>
        </p:nvSpPr>
        <p:spPr>
          <a:xfrm>
            <a:off x="4353791" y="1440312"/>
            <a:ext cx="14257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a powerful reminder of the enduring value of traditional culture in the modern world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5F5780-9B5A-5E9A-D2C4-874F883ADAE3}"/>
              </a:ext>
            </a:extLst>
          </p:cNvPr>
          <p:cNvSpPr txBox="1"/>
          <p:nvPr/>
        </p:nvSpPr>
        <p:spPr>
          <a:xfrm>
            <a:off x="9264138" y="3025361"/>
            <a:ext cx="2416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cherish and celebrate our rich cultural heritage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FB4BBC-50E5-6BEE-F15A-EE06F9AD3C1A}"/>
              </a:ext>
            </a:extLst>
          </p:cNvPr>
          <p:cNvSpPr txBox="1"/>
          <p:nvPr/>
        </p:nvSpPr>
        <p:spPr>
          <a:xfrm>
            <a:off x="884903" y="4961667"/>
            <a:ext cx="3667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Algerian" panose="04020705040A02060702" pitchFamily="82" charset="0"/>
              </a:rPr>
              <a:t>IN </a:t>
            </a:r>
          </a:p>
          <a:p>
            <a:r>
              <a:rPr lang="en-US" altLang="zh-CN" sz="4000" dirty="0">
                <a:latin typeface="Algerian" panose="04020705040A02060702" pitchFamily="82" charset="0"/>
              </a:rPr>
              <a:t>CONCLUSION</a:t>
            </a:r>
            <a:endParaRPr lang="zh-CN" altLang="en-US" sz="4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 animBg="1"/>
      <p:bldP spid="49" grpId="0" animBg="1"/>
      <p:bldP spid="54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3" b="39878"/>
          <a:stretch>
            <a:fillRect/>
          </a:stretch>
        </p:blipFill>
        <p:spPr>
          <a:xfrm>
            <a:off x="8476343" y="563466"/>
            <a:ext cx="3715657" cy="305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36078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3" b="30326"/>
          <a:stretch>
            <a:fillRect/>
          </a:stretch>
        </p:blipFill>
        <p:spPr>
          <a:xfrm>
            <a:off x="0" y="563675"/>
            <a:ext cx="4238171" cy="3698649"/>
          </a:xfrm>
          <a:prstGeom prst="rect">
            <a:avLst/>
          </a:prstGeom>
        </p:spPr>
      </p:pic>
      <p:sp>
        <p:nvSpPr>
          <p:cNvPr id="8" name="文本框 8"/>
          <p:cNvSpPr txBox="1"/>
          <p:nvPr/>
        </p:nvSpPr>
        <p:spPr>
          <a:xfrm>
            <a:off x="4487309" y="2478913"/>
            <a:ext cx="3866207" cy="1138773"/>
          </a:xfrm>
          <a:prstGeom prst="rect">
            <a:avLst/>
          </a:prstGeom>
          <a:noFill/>
        </p:spPr>
        <p:txBody>
          <a:bodyPr wrap="square" lIns="121922" tIns="60960" rIns="121922" bIns="60960" rtlCol="0">
            <a:spAutoFit/>
          </a:bodyPr>
          <a:lstStyle/>
          <a:p>
            <a:pPr algn="l"/>
            <a:r>
              <a:rPr lang="en-US" altLang="zh-C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Thanks</a:t>
            </a:r>
            <a:endParaRPr lang="zh-CN" altLang="en-US" sz="6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任意多边形 38"/>
          <p:cNvSpPr/>
          <p:nvPr/>
        </p:nvSpPr>
        <p:spPr>
          <a:xfrm flipH="1" flipV="1">
            <a:off x="6879953" y="1698199"/>
            <a:ext cx="1596390" cy="381000"/>
          </a:xfrm>
          <a:custGeom>
            <a:avLst/>
            <a:gdLst>
              <a:gd name="connsiteX0" fmla="*/ 3538712 w 5891463"/>
              <a:gd name="connsiteY0" fmla="*/ 0 h 713287"/>
              <a:gd name="connsiteX1" fmla="*/ 5891463 w 5891463"/>
              <a:gd name="connsiteY1" fmla="*/ 0 h 713287"/>
              <a:gd name="connsiteX2" fmla="*/ 5891463 w 5891463"/>
              <a:gd name="connsiteY2" fmla="*/ 45719 h 713287"/>
              <a:gd name="connsiteX3" fmla="*/ 4651667 w 5891463"/>
              <a:gd name="connsiteY3" fmla="*/ 45719 h 713287"/>
              <a:gd name="connsiteX4" fmla="*/ 4651667 w 5891463"/>
              <a:gd name="connsiteY4" fmla="*/ 49137 h 713287"/>
              <a:gd name="connsiteX5" fmla="*/ 3291824 w 5891463"/>
              <a:gd name="connsiteY5" fmla="*/ 49137 h 713287"/>
              <a:gd name="connsiteX6" fmla="*/ 1928977 w 5891463"/>
              <a:gd name="connsiteY6" fmla="*/ 49137 h 713287"/>
              <a:gd name="connsiteX7" fmla="*/ 1778305 w 5891463"/>
              <a:gd name="connsiteY7" fmla="*/ 135634 h 713287"/>
              <a:gd name="connsiteX8" fmla="*/ 1765454 w 5891463"/>
              <a:gd name="connsiteY8" fmla="*/ 190761 h 713287"/>
              <a:gd name="connsiteX9" fmla="*/ 1778305 w 5891463"/>
              <a:gd name="connsiteY9" fmla="*/ 245889 h 713287"/>
              <a:gd name="connsiteX10" fmla="*/ 1928977 w 5891463"/>
              <a:gd name="connsiteY10" fmla="*/ 332387 h 713287"/>
              <a:gd name="connsiteX11" fmla="*/ 2167660 w 5891463"/>
              <a:gd name="connsiteY11" fmla="*/ 332387 h 713287"/>
              <a:gd name="connsiteX12" fmla="*/ 2167660 w 5891463"/>
              <a:gd name="connsiteY12" fmla="*/ 331761 h 713287"/>
              <a:gd name="connsiteX13" fmla="*/ 3793525 w 5891463"/>
              <a:gd name="connsiteY13" fmla="*/ 331761 h 713287"/>
              <a:gd name="connsiteX14" fmla="*/ 4013782 w 5891463"/>
              <a:gd name="connsiteY14" fmla="*/ 522521 h 713287"/>
              <a:gd name="connsiteX15" fmla="*/ 3793525 w 5891463"/>
              <a:gd name="connsiteY15" fmla="*/ 713283 h 713287"/>
              <a:gd name="connsiteX16" fmla="*/ 2352751 w 5891463"/>
              <a:gd name="connsiteY16" fmla="*/ 713283 h 713287"/>
              <a:gd name="connsiteX17" fmla="*/ 2352751 w 5891463"/>
              <a:gd name="connsiteY17" fmla="*/ 713287 h 713287"/>
              <a:gd name="connsiteX18" fmla="*/ 0 w 5891463"/>
              <a:gd name="connsiteY18" fmla="*/ 713287 h 713287"/>
              <a:gd name="connsiteX19" fmla="*/ 0 w 5891463"/>
              <a:gd name="connsiteY19" fmla="*/ 667568 h 713287"/>
              <a:gd name="connsiteX20" fmla="*/ 884428 w 5891463"/>
              <a:gd name="connsiteY20" fmla="*/ 667568 h 713287"/>
              <a:gd name="connsiteX21" fmla="*/ 884428 w 5891463"/>
              <a:gd name="connsiteY21" fmla="*/ 664147 h 713287"/>
              <a:gd name="connsiteX22" fmla="*/ 2244271 w 5891463"/>
              <a:gd name="connsiteY22" fmla="*/ 664147 h 713287"/>
              <a:gd name="connsiteX23" fmla="*/ 3649155 w 5891463"/>
              <a:gd name="connsiteY23" fmla="*/ 664147 h 713287"/>
              <a:gd name="connsiteX24" fmla="*/ 3799827 w 5891463"/>
              <a:gd name="connsiteY24" fmla="*/ 577648 h 713287"/>
              <a:gd name="connsiteX25" fmla="*/ 3812678 w 5891463"/>
              <a:gd name="connsiteY25" fmla="*/ 522521 h 713287"/>
              <a:gd name="connsiteX26" fmla="*/ 3799827 w 5891463"/>
              <a:gd name="connsiteY26" fmla="*/ 467394 h 713287"/>
              <a:gd name="connsiteX27" fmla="*/ 3649155 w 5891463"/>
              <a:gd name="connsiteY27" fmla="*/ 380896 h 713287"/>
              <a:gd name="connsiteX28" fmla="*/ 3410471 w 5891463"/>
              <a:gd name="connsiteY28" fmla="*/ 380896 h 713287"/>
              <a:gd name="connsiteX29" fmla="*/ 3410471 w 5891463"/>
              <a:gd name="connsiteY29" fmla="*/ 381523 h 713287"/>
              <a:gd name="connsiteX30" fmla="*/ 1784606 w 5891463"/>
              <a:gd name="connsiteY30" fmla="*/ 381523 h 713287"/>
              <a:gd name="connsiteX31" fmla="*/ 1564350 w 5891463"/>
              <a:gd name="connsiteY31" fmla="*/ 190761 h 713287"/>
              <a:gd name="connsiteX32" fmla="*/ 1784606 w 5891463"/>
              <a:gd name="connsiteY32" fmla="*/ 1 h 713287"/>
              <a:gd name="connsiteX33" fmla="*/ 3291824 w 5891463"/>
              <a:gd name="connsiteY33" fmla="*/ 1 h 713287"/>
              <a:gd name="connsiteX34" fmla="*/ 3410471 w 5891463"/>
              <a:gd name="connsiteY34" fmla="*/ 1 h 713287"/>
              <a:gd name="connsiteX35" fmla="*/ 3538712 w 5891463"/>
              <a:gd name="connsiteY35" fmla="*/ 1 h 71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891463" h="713287">
                <a:moveTo>
                  <a:pt x="3538712" y="0"/>
                </a:moveTo>
                <a:lnTo>
                  <a:pt x="5891463" y="0"/>
                </a:lnTo>
                <a:lnTo>
                  <a:pt x="5891463" y="45719"/>
                </a:lnTo>
                <a:lnTo>
                  <a:pt x="4651667" y="45719"/>
                </a:lnTo>
                <a:lnTo>
                  <a:pt x="4651667" y="49137"/>
                </a:lnTo>
                <a:lnTo>
                  <a:pt x="3291824" y="49137"/>
                </a:lnTo>
                <a:lnTo>
                  <a:pt x="1928977" y="49137"/>
                </a:lnTo>
                <a:cubicBezTo>
                  <a:pt x="1861244" y="49137"/>
                  <a:pt x="1803129" y="84804"/>
                  <a:pt x="1778305" y="135634"/>
                </a:cubicBezTo>
                <a:lnTo>
                  <a:pt x="1765454" y="190761"/>
                </a:lnTo>
                <a:lnTo>
                  <a:pt x="1778305" y="245889"/>
                </a:lnTo>
                <a:cubicBezTo>
                  <a:pt x="1803129" y="296721"/>
                  <a:pt x="1861244" y="332387"/>
                  <a:pt x="1928977" y="332387"/>
                </a:cubicBezTo>
                <a:lnTo>
                  <a:pt x="2167660" y="332387"/>
                </a:lnTo>
                <a:lnTo>
                  <a:pt x="2167660" y="331761"/>
                </a:lnTo>
                <a:lnTo>
                  <a:pt x="3793525" y="331761"/>
                </a:lnTo>
                <a:cubicBezTo>
                  <a:pt x="3915169" y="331761"/>
                  <a:pt x="4013782" y="417167"/>
                  <a:pt x="4013782" y="522521"/>
                </a:cubicBezTo>
                <a:cubicBezTo>
                  <a:pt x="4013782" y="627877"/>
                  <a:pt x="3915169" y="713283"/>
                  <a:pt x="3793525" y="713283"/>
                </a:cubicBezTo>
                <a:lnTo>
                  <a:pt x="2352751" y="713283"/>
                </a:lnTo>
                <a:lnTo>
                  <a:pt x="2352751" y="713287"/>
                </a:lnTo>
                <a:lnTo>
                  <a:pt x="0" y="713287"/>
                </a:lnTo>
                <a:lnTo>
                  <a:pt x="0" y="667568"/>
                </a:lnTo>
                <a:lnTo>
                  <a:pt x="884428" y="667568"/>
                </a:lnTo>
                <a:lnTo>
                  <a:pt x="884428" y="664147"/>
                </a:lnTo>
                <a:lnTo>
                  <a:pt x="2244271" y="664147"/>
                </a:lnTo>
                <a:lnTo>
                  <a:pt x="3649155" y="664147"/>
                </a:lnTo>
                <a:cubicBezTo>
                  <a:pt x="3716888" y="664147"/>
                  <a:pt x="3775004" y="628480"/>
                  <a:pt x="3799827" y="577648"/>
                </a:cubicBezTo>
                <a:lnTo>
                  <a:pt x="3812678" y="522521"/>
                </a:lnTo>
                <a:lnTo>
                  <a:pt x="3799827" y="467394"/>
                </a:lnTo>
                <a:cubicBezTo>
                  <a:pt x="3775004" y="416563"/>
                  <a:pt x="3716888" y="380896"/>
                  <a:pt x="3649155" y="380896"/>
                </a:cubicBezTo>
                <a:lnTo>
                  <a:pt x="3410471" y="380896"/>
                </a:lnTo>
                <a:lnTo>
                  <a:pt x="3410471" y="381523"/>
                </a:lnTo>
                <a:lnTo>
                  <a:pt x="1784606" y="381523"/>
                </a:lnTo>
                <a:cubicBezTo>
                  <a:pt x="1662962" y="381523"/>
                  <a:pt x="1564350" y="296117"/>
                  <a:pt x="1564350" y="190761"/>
                </a:cubicBezTo>
                <a:cubicBezTo>
                  <a:pt x="1564350" y="85407"/>
                  <a:pt x="1662962" y="1"/>
                  <a:pt x="1784606" y="1"/>
                </a:cubicBezTo>
                <a:lnTo>
                  <a:pt x="3291824" y="1"/>
                </a:lnTo>
                <a:lnTo>
                  <a:pt x="3410471" y="1"/>
                </a:lnTo>
                <a:lnTo>
                  <a:pt x="3538712" y="1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任意多边形 38"/>
          <p:cNvSpPr/>
          <p:nvPr/>
        </p:nvSpPr>
        <p:spPr>
          <a:xfrm flipV="1">
            <a:off x="3378563" y="3278079"/>
            <a:ext cx="1596390" cy="381000"/>
          </a:xfrm>
          <a:custGeom>
            <a:avLst/>
            <a:gdLst>
              <a:gd name="connsiteX0" fmla="*/ 3538712 w 5891463"/>
              <a:gd name="connsiteY0" fmla="*/ 0 h 713287"/>
              <a:gd name="connsiteX1" fmla="*/ 5891463 w 5891463"/>
              <a:gd name="connsiteY1" fmla="*/ 0 h 713287"/>
              <a:gd name="connsiteX2" fmla="*/ 5891463 w 5891463"/>
              <a:gd name="connsiteY2" fmla="*/ 45719 h 713287"/>
              <a:gd name="connsiteX3" fmla="*/ 4651667 w 5891463"/>
              <a:gd name="connsiteY3" fmla="*/ 45719 h 713287"/>
              <a:gd name="connsiteX4" fmla="*/ 4651667 w 5891463"/>
              <a:gd name="connsiteY4" fmla="*/ 49137 h 713287"/>
              <a:gd name="connsiteX5" fmla="*/ 3291824 w 5891463"/>
              <a:gd name="connsiteY5" fmla="*/ 49137 h 713287"/>
              <a:gd name="connsiteX6" fmla="*/ 1928977 w 5891463"/>
              <a:gd name="connsiteY6" fmla="*/ 49137 h 713287"/>
              <a:gd name="connsiteX7" fmla="*/ 1778305 w 5891463"/>
              <a:gd name="connsiteY7" fmla="*/ 135634 h 713287"/>
              <a:gd name="connsiteX8" fmla="*/ 1765454 w 5891463"/>
              <a:gd name="connsiteY8" fmla="*/ 190761 h 713287"/>
              <a:gd name="connsiteX9" fmla="*/ 1778305 w 5891463"/>
              <a:gd name="connsiteY9" fmla="*/ 245889 h 713287"/>
              <a:gd name="connsiteX10" fmla="*/ 1928977 w 5891463"/>
              <a:gd name="connsiteY10" fmla="*/ 332387 h 713287"/>
              <a:gd name="connsiteX11" fmla="*/ 2167660 w 5891463"/>
              <a:gd name="connsiteY11" fmla="*/ 332387 h 713287"/>
              <a:gd name="connsiteX12" fmla="*/ 2167660 w 5891463"/>
              <a:gd name="connsiteY12" fmla="*/ 331761 h 713287"/>
              <a:gd name="connsiteX13" fmla="*/ 3793525 w 5891463"/>
              <a:gd name="connsiteY13" fmla="*/ 331761 h 713287"/>
              <a:gd name="connsiteX14" fmla="*/ 4013782 w 5891463"/>
              <a:gd name="connsiteY14" fmla="*/ 522521 h 713287"/>
              <a:gd name="connsiteX15" fmla="*/ 3793525 w 5891463"/>
              <a:gd name="connsiteY15" fmla="*/ 713283 h 713287"/>
              <a:gd name="connsiteX16" fmla="*/ 2352751 w 5891463"/>
              <a:gd name="connsiteY16" fmla="*/ 713283 h 713287"/>
              <a:gd name="connsiteX17" fmla="*/ 2352751 w 5891463"/>
              <a:gd name="connsiteY17" fmla="*/ 713287 h 713287"/>
              <a:gd name="connsiteX18" fmla="*/ 0 w 5891463"/>
              <a:gd name="connsiteY18" fmla="*/ 713287 h 713287"/>
              <a:gd name="connsiteX19" fmla="*/ 0 w 5891463"/>
              <a:gd name="connsiteY19" fmla="*/ 667568 h 713287"/>
              <a:gd name="connsiteX20" fmla="*/ 884428 w 5891463"/>
              <a:gd name="connsiteY20" fmla="*/ 667568 h 713287"/>
              <a:gd name="connsiteX21" fmla="*/ 884428 w 5891463"/>
              <a:gd name="connsiteY21" fmla="*/ 664147 h 713287"/>
              <a:gd name="connsiteX22" fmla="*/ 2244271 w 5891463"/>
              <a:gd name="connsiteY22" fmla="*/ 664147 h 713287"/>
              <a:gd name="connsiteX23" fmla="*/ 3649155 w 5891463"/>
              <a:gd name="connsiteY23" fmla="*/ 664147 h 713287"/>
              <a:gd name="connsiteX24" fmla="*/ 3799827 w 5891463"/>
              <a:gd name="connsiteY24" fmla="*/ 577648 h 713287"/>
              <a:gd name="connsiteX25" fmla="*/ 3812678 w 5891463"/>
              <a:gd name="connsiteY25" fmla="*/ 522521 h 713287"/>
              <a:gd name="connsiteX26" fmla="*/ 3799827 w 5891463"/>
              <a:gd name="connsiteY26" fmla="*/ 467394 h 713287"/>
              <a:gd name="connsiteX27" fmla="*/ 3649155 w 5891463"/>
              <a:gd name="connsiteY27" fmla="*/ 380896 h 713287"/>
              <a:gd name="connsiteX28" fmla="*/ 3410471 w 5891463"/>
              <a:gd name="connsiteY28" fmla="*/ 380896 h 713287"/>
              <a:gd name="connsiteX29" fmla="*/ 3410471 w 5891463"/>
              <a:gd name="connsiteY29" fmla="*/ 381523 h 713287"/>
              <a:gd name="connsiteX30" fmla="*/ 1784606 w 5891463"/>
              <a:gd name="connsiteY30" fmla="*/ 381523 h 713287"/>
              <a:gd name="connsiteX31" fmla="*/ 1564350 w 5891463"/>
              <a:gd name="connsiteY31" fmla="*/ 190761 h 713287"/>
              <a:gd name="connsiteX32" fmla="*/ 1784606 w 5891463"/>
              <a:gd name="connsiteY32" fmla="*/ 1 h 713287"/>
              <a:gd name="connsiteX33" fmla="*/ 3291824 w 5891463"/>
              <a:gd name="connsiteY33" fmla="*/ 1 h 713287"/>
              <a:gd name="connsiteX34" fmla="*/ 3410471 w 5891463"/>
              <a:gd name="connsiteY34" fmla="*/ 1 h 713287"/>
              <a:gd name="connsiteX35" fmla="*/ 3538712 w 5891463"/>
              <a:gd name="connsiteY35" fmla="*/ 1 h 71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891463" h="713287">
                <a:moveTo>
                  <a:pt x="3538712" y="0"/>
                </a:moveTo>
                <a:lnTo>
                  <a:pt x="5891463" y="0"/>
                </a:lnTo>
                <a:lnTo>
                  <a:pt x="5891463" y="45719"/>
                </a:lnTo>
                <a:lnTo>
                  <a:pt x="4651667" y="45719"/>
                </a:lnTo>
                <a:lnTo>
                  <a:pt x="4651667" y="49137"/>
                </a:lnTo>
                <a:lnTo>
                  <a:pt x="3291824" y="49137"/>
                </a:lnTo>
                <a:lnTo>
                  <a:pt x="1928977" y="49137"/>
                </a:lnTo>
                <a:cubicBezTo>
                  <a:pt x="1861244" y="49137"/>
                  <a:pt x="1803129" y="84804"/>
                  <a:pt x="1778305" y="135634"/>
                </a:cubicBezTo>
                <a:lnTo>
                  <a:pt x="1765454" y="190761"/>
                </a:lnTo>
                <a:lnTo>
                  <a:pt x="1778305" y="245889"/>
                </a:lnTo>
                <a:cubicBezTo>
                  <a:pt x="1803129" y="296721"/>
                  <a:pt x="1861244" y="332387"/>
                  <a:pt x="1928977" y="332387"/>
                </a:cubicBezTo>
                <a:lnTo>
                  <a:pt x="2167660" y="332387"/>
                </a:lnTo>
                <a:lnTo>
                  <a:pt x="2167660" y="331761"/>
                </a:lnTo>
                <a:lnTo>
                  <a:pt x="3793525" y="331761"/>
                </a:lnTo>
                <a:cubicBezTo>
                  <a:pt x="3915169" y="331761"/>
                  <a:pt x="4013782" y="417167"/>
                  <a:pt x="4013782" y="522521"/>
                </a:cubicBezTo>
                <a:cubicBezTo>
                  <a:pt x="4013782" y="627877"/>
                  <a:pt x="3915169" y="713283"/>
                  <a:pt x="3793525" y="713283"/>
                </a:cubicBezTo>
                <a:lnTo>
                  <a:pt x="2352751" y="713283"/>
                </a:lnTo>
                <a:lnTo>
                  <a:pt x="2352751" y="713287"/>
                </a:lnTo>
                <a:lnTo>
                  <a:pt x="0" y="713287"/>
                </a:lnTo>
                <a:lnTo>
                  <a:pt x="0" y="667568"/>
                </a:lnTo>
                <a:lnTo>
                  <a:pt x="884428" y="667568"/>
                </a:lnTo>
                <a:lnTo>
                  <a:pt x="884428" y="664147"/>
                </a:lnTo>
                <a:lnTo>
                  <a:pt x="2244271" y="664147"/>
                </a:lnTo>
                <a:lnTo>
                  <a:pt x="3649155" y="664147"/>
                </a:lnTo>
                <a:cubicBezTo>
                  <a:pt x="3716888" y="664147"/>
                  <a:pt x="3775004" y="628480"/>
                  <a:pt x="3799827" y="577648"/>
                </a:cubicBezTo>
                <a:lnTo>
                  <a:pt x="3812678" y="522521"/>
                </a:lnTo>
                <a:lnTo>
                  <a:pt x="3799827" y="467394"/>
                </a:lnTo>
                <a:cubicBezTo>
                  <a:pt x="3775004" y="416563"/>
                  <a:pt x="3716888" y="380896"/>
                  <a:pt x="3649155" y="380896"/>
                </a:cubicBezTo>
                <a:lnTo>
                  <a:pt x="3410471" y="380896"/>
                </a:lnTo>
                <a:lnTo>
                  <a:pt x="3410471" y="381523"/>
                </a:lnTo>
                <a:lnTo>
                  <a:pt x="1784606" y="381523"/>
                </a:lnTo>
                <a:cubicBezTo>
                  <a:pt x="1662962" y="381523"/>
                  <a:pt x="1564350" y="296117"/>
                  <a:pt x="1564350" y="190761"/>
                </a:cubicBezTo>
                <a:cubicBezTo>
                  <a:pt x="1564350" y="85407"/>
                  <a:pt x="1662962" y="1"/>
                  <a:pt x="1784606" y="1"/>
                </a:cubicBezTo>
                <a:lnTo>
                  <a:pt x="3291824" y="1"/>
                </a:lnTo>
                <a:lnTo>
                  <a:pt x="3410471" y="1"/>
                </a:lnTo>
                <a:lnTo>
                  <a:pt x="3538712" y="1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2" descr="2de72cb9e0ef5f54e93cc105d248c2b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185" y="2584023"/>
            <a:ext cx="2210267" cy="3356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SLIDE_COUNT" val="1"/>
  <p:tag name="ISPRING_PRESENTATION_TITLE" val="中国江南风演讲培训PPT模板"/>
</p:tagLst>
</file>

<file path=ppt/theme/theme1.xml><?xml version="1.0" encoding="utf-8"?>
<a:theme xmlns:a="http://schemas.openxmlformats.org/drawingml/2006/main" name="www.2ppt.com">
  <a:themeElements>
    <a:clrScheme name="自定义 16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55049"/>
      </a:accent1>
      <a:accent2>
        <a:srgbClr val="437C6C"/>
      </a:accent2>
      <a:accent3>
        <a:srgbClr val="73A193"/>
      </a:accent3>
      <a:accent4>
        <a:srgbClr val="437C6C"/>
      </a:accent4>
      <a:accent5>
        <a:srgbClr val="437C6C"/>
      </a:accent5>
      <a:accent6>
        <a:srgbClr val="73A193"/>
      </a:accent6>
      <a:hlink>
        <a:srgbClr val="437C6C"/>
      </a:hlink>
      <a:folHlink>
        <a:srgbClr val="255049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317</Words>
  <Application>Microsoft Office PowerPoint</Application>
  <PresentationFormat>宽屏</PresentationFormat>
  <Paragraphs>62</Paragraphs>
  <Slides>15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华文中宋</vt:lpstr>
      <vt:lpstr>方正姚体</vt:lpstr>
      <vt:lpstr>华文琥珀</vt:lpstr>
      <vt:lpstr>华文行楷</vt:lpstr>
      <vt:lpstr>等线</vt:lpstr>
      <vt:lpstr>Arial</vt:lpstr>
      <vt:lpstr>华文新魏</vt:lpstr>
      <vt:lpstr>Algerian</vt:lpstr>
      <vt:lpstr>等线</vt:lpstr>
      <vt:lpstr>华文楷体</vt:lpstr>
      <vt:lpstr>楷体</vt:lpstr>
      <vt:lpstr>Calibri</vt:lpstr>
      <vt:lpstr>华文细黑</vt:lpstr>
      <vt:lpstr>隶书</vt:lpstr>
      <vt:lpstr>等线 Light</vt:lpstr>
      <vt:lpstr>www.2ppt.com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www.2ppt.com-爱PPT提供资源下载</dc:title>
  <dc:subject>www.2ppt.com-爱PPT提供资源下载</dc:subject>
  <dc:creator>www.2ppt.com-爱PPT提供资源下载</dc:creator>
  <dc:description>www.2ppt.com-爱PPT提供资源下载</dc:description>
  <cp:lastModifiedBy>伟康 杨</cp:lastModifiedBy>
  <cp:revision>3</cp:revision>
  <dcterms:created xsi:type="dcterms:W3CDTF">2018-01-04T01:03:00Z</dcterms:created>
  <dcterms:modified xsi:type="dcterms:W3CDTF">2024-04-10T15:17:16Z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BCC5C682E28545FDB7F5387EBCC7649E</vt:lpwstr>
  </property>
  <property fmtid="{D5CDD505-2E9C-101B-9397-08002B2CF9AE}" pid="3" name="KSOProductBuildVer">
    <vt:lpwstr>2052-11.1.0.11194</vt:lpwstr>
  </property>
  <property fmtid="{A09F084E-AD41-489F-8076-AA5BE3082BCA}" pid="100">
    <vt:ui4>5</vt:ui4>
  </property>
  <property fmtid="{64440492-4C8B-11D1-8B70-080036B11A03}" pid="11">
    <vt:lpwstr>www.2ppt.com-爱PPT提供资源下载</vt:lpwstr>
  </property>
</Properties>
</file>